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imary-horizontal.png"/>
          <p:cNvPicPr>
            <a:picLocks noChangeAspect="1"/>
          </p:cNvPicPr>
          <p:nvPr/>
        </p:nvPicPr>
        <p:blipFill>
          <a:blip r:embed="rId2"/>
          <a:stretch>
            <a:fillRect/>
          </a:stretch>
        </p:blipFill>
        <p:spPr>
          <a:xfrm>
            <a:off x="685800" y="502920"/>
            <a:ext cx="3840480" cy="1008876"/>
          </a:xfrm>
          <a:prstGeom prst="rect">
            <a:avLst/>
          </a:prstGeom>
        </p:spPr>
      </p:pic>
      <p:sp>
        <p:nvSpPr>
          <p:cNvPr id="5" name="Rounded Rectangle 4"/>
          <p:cNvSpPr/>
          <p:nvPr/>
        </p:nvSpPr>
        <p:spPr>
          <a:xfrm>
            <a:off x="685800" y="1417320"/>
            <a:ext cx="3063240" cy="384048"/>
          </a:xfrm>
          <a:prstGeom prst="roundRect">
            <a:avLst/>
          </a:prstGeom>
          <a:solidFill>
            <a:srgbClr val="16202D"/>
          </a:solidFill>
          <a:ln w="12700">
            <a:solidFill>
              <a:srgbClr val="F2AE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2AE26"/>
                </a:solidFill>
                <a:latin typeface="Inter"/>
                <a:ea typeface="Inter"/>
                <a:cs typeface="Inter"/>
              </a:rPr>
              <a:t>MARKETING FOR CONTRACTORS</a:t>
            </a:r>
          </a:p>
        </p:txBody>
      </p:sp>
      <p:sp>
        <p:nvSpPr>
          <p:cNvPr id="6" name="TextBox 5"/>
          <p:cNvSpPr txBox="1"/>
          <p:nvPr/>
        </p:nvSpPr>
        <p:spPr>
          <a:xfrm>
            <a:off x="685800" y="1965960"/>
            <a:ext cx="10058400" cy="2011680"/>
          </a:xfrm>
          <a:prstGeom prst="rect">
            <a:avLst/>
          </a:prstGeom>
          <a:noFill/>
        </p:spPr>
        <p:txBody>
          <a:bodyPr wrap="square">
            <a:spAutoFit/>
          </a:bodyPr>
          <a:lstStyle/>
          <a:p>
            <a:pPr>
              <a:spcAft>
                <a:spcPts val="200"/>
              </a:spcAft>
            </a:pPr>
            <a:r>
              <a:rPr sz="5400" b="1" i="0">
                <a:solidFill>
                  <a:srgbClr val="FFFFFF"/>
                </a:solidFill>
                <a:latin typeface="Barlow Condensed"/>
                <a:ea typeface="Barlow Condensed"/>
                <a:cs typeface="Barlow Condensed"/>
              </a:rPr>
              <a:t>BUILD TRUST.</a:t>
            </a:r>
          </a:p>
          <a:p>
            <a:pPr>
              <a:spcAft>
                <a:spcPts val="200"/>
              </a:spcAft>
            </a:pPr>
            <a:r>
              <a:rPr sz="5400" b="1" i="0">
                <a:solidFill>
                  <a:srgbClr val="FFFFFF"/>
                </a:solidFill>
                <a:latin typeface="Barlow Condensed"/>
                <a:ea typeface="Barlow Condensed"/>
                <a:cs typeface="Barlow Condensed"/>
              </a:rPr>
              <a:t>STAND OUT.</a:t>
            </a:r>
          </a:p>
          <a:p>
            <a:pPr>
              <a:spcAft>
                <a:spcPts val="200"/>
              </a:spcAft>
            </a:pPr>
            <a:r>
              <a:rPr sz="5400" b="1" i="0">
                <a:solidFill>
                  <a:srgbClr val="F2AE26"/>
                </a:solidFill>
                <a:latin typeface="Barlow Condensed"/>
                <a:ea typeface="Barlow Condensed"/>
                <a:cs typeface="Barlow Condensed"/>
              </a:rPr>
              <a:t>WIN MORE WORK.</a:t>
            </a:r>
          </a:p>
        </p:txBody>
      </p:sp>
      <p:sp>
        <p:nvSpPr>
          <p:cNvPr id="7" name="TextBox 6"/>
          <p:cNvSpPr txBox="1"/>
          <p:nvPr/>
        </p:nvSpPr>
        <p:spPr>
          <a:xfrm>
            <a:off x="685800" y="3977639"/>
            <a:ext cx="8686800" cy="822960"/>
          </a:xfrm>
          <a:prstGeom prst="rect">
            <a:avLst/>
          </a:prstGeom>
          <a:noFill/>
        </p:spPr>
        <p:txBody>
          <a:bodyPr wrap="square">
            <a:spAutoFit/>
          </a:bodyPr>
          <a:lstStyle/>
          <a:p>
            <a:r>
              <a:rPr sz="1600" b="0" i="0">
                <a:solidFill>
                  <a:srgbClr val="CBD5E1"/>
                </a:solidFill>
                <a:latin typeface="Inter"/>
                <a:ea typeface="Inter"/>
                <a:cs typeface="Inter"/>
              </a:rPr>
              <a:t>You've spent years earning your reputation. Our job is to make sure more people see it through The Blue Collar Blueprint™ and our Trust Framework™.</a:t>
            </a:r>
          </a:p>
        </p:txBody>
      </p:sp>
      <p:sp>
        <p:nvSpPr>
          <p:cNvPr id="8" name="TextBox 7"/>
          <p:cNvSpPr txBox="1"/>
          <p:nvPr/>
        </p:nvSpPr>
        <p:spPr>
          <a:xfrm>
            <a:off x="685800" y="4983480"/>
            <a:ext cx="10058400" cy="320040"/>
          </a:xfrm>
          <a:prstGeom prst="rect">
            <a:avLst/>
          </a:prstGeom>
          <a:noFill/>
        </p:spPr>
        <p:txBody>
          <a:bodyPr wrap="none">
            <a:spAutoFit/>
          </a:bodyPr>
          <a:lstStyle/>
          <a:p>
            <a:r>
              <a:rPr sz="1000" b="1" i="0">
                <a:solidFill>
                  <a:srgbClr val="94A3B8"/>
                </a:solidFill>
                <a:latin typeface="Inter"/>
                <a:ea typeface="Inter"/>
                <a:cs typeface="Inter"/>
              </a:rPr>
              <a:t>TRUST WINS JOBS · NOT JUST ANOTHER VIDEO COMPANY · STRATEGIC GROWTH PARTNER</a:t>
            </a:r>
          </a:p>
        </p:txBody>
      </p:sp>
      <p:sp>
        <p:nvSpPr>
          <p:cNvPr id="9" name="Rectangle 8"/>
          <p:cNvSpPr/>
          <p:nvPr/>
        </p:nvSpPr>
        <p:spPr>
          <a:xfrm>
            <a:off x="0" y="5623560"/>
            <a:ext cx="12191695" cy="123444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806440"/>
            <a:ext cx="1097280" cy="502920"/>
          </a:xfrm>
          <a:prstGeom prst="rect">
            <a:avLst/>
          </a:prstGeom>
          <a:noFill/>
        </p:spPr>
        <p:txBody>
          <a:bodyPr wrap="none">
            <a:spAutoFit/>
          </a:bodyPr>
          <a:lstStyle/>
          <a:p>
            <a:r>
              <a:rPr sz="3600" b="1" i="0">
                <a:solidFill>
                  <a:srgbClr val="16202D"/>
                </a:solidFill>
                <a:latin typeface="Barlow Condensed"/>
                <a:ea typeface="Barlow Condensed"/>
                <a:cs typeface="Barlow Condensed"/>
              </a:rPr>
              <a:t>01</a:t>
            </a:r>
          </a:p>
        </p:txBody>
      </p:sp>
      <p:sp>
        <p:nvSpPr>
          <p:cNvPr id="11" name="TextBox 10"/>
          <p:cNvSpPr txBox="1"/>
          <p:nvPr/>
        </p:nvSpPr>
        <p:spPr>
          <a:xfrm>
            <a:off x="502920" y="6355080"/>
            <a:ext cx="2560320" cy="320040"/>
          </a:xfrm>
          <a:prstGeom prst="rect">
            <a:avLst/>
          </a:prstGeom>
          <a:noFill/>
        </p:spPr>
        <p:txBody>
          <a:bodyPr wrap="none">
            <a:spAutoFit/>
          </a:bodyPr>
          <a:lstStyle/>
          <a:p>
            <a:r>
              <a:rPr sz="1000" b="1" i="0">
                <a:solidFill>
                  <a:srgbClr val="16202D"/>
                </a:solidFill>
                <a:latin typeface="Inter"/>
                <a:ea typeface="Inter"/>
                <a:cs typeface="Inter"/>
              </a:rPr>
              <a:t>BUILD TRUST</a:t>
            </a:r>
          </a:p>
        </p:txBody>
      </p:sp>
      <p:sp>
        <p:nvSpPr>
          <p:cNvPr id="12" name="TextBox 11"/>
          <p:cNvSpPr txBox="1"/>
          <p:nvPr/>
        </p:nvSpPr>
        <p:spPr>
          <a:xfrm>
            <a:off x="3429000" y="5806440"/>
            <a:ext cx="1097280" cy="502920"/>
          </a:xfrm>
          <a:prstGeom prst="rect">
            <a:avLst/>
          </a:prstGeom>
          <a:noFill/>
        </p:spPr>
        <p:txBody>
          <a:bodyPr wrap="none">
            <a:spAutoFit/>
          </a:bodyPr>
          <a:lstStyle/>
          <a:p>
            <a:r>
              <a:rPr sz="3600" b="1" i="0">
                <a:solidFill>
                  <a:srgbClr val="16202D"/>
                </a:solidFill>
                <a:latin typeface="Barlow Condensed"/>
                <a:ea typeface="Barlow Condensed"/>
                <a:cs typeface="Barlow Condensed"/>
              </a:rPr>
              <a:t>02</a:t>
            </a:r>
          </a:p>
        </p:txBody>
      </p:sp>
      <p:sp>
        <p:nvSpPr>
          <p:cNvPr id="13" name="TextBox 12"/>
          <p:cNvSpPr txBox="1"/>
          <p:nvPr/>
        </p:nvSpPr>
        <p:spPr>
          <a:xfrm>
            <a:off x="3429000" y="6355080"/>
            <a:ext cx="2560320" cy="320040"/>
          </a:xfrm>
          <a:prstGeom prst="rect">
            <a:avLst/>
          </a:prstGeom>
          <a:noFill/>
        </p:spPr>
        <p:txBody>
          <a:bodyPr wrap="none">
            <a:spAutoFit/>
          </a:bodyPr>
          <a:lstStyle/>
          <a:p>
            <a:r>
              <a:rPr sz="1000" b="1" i="0">
                <a:solidFill>
                  <a:srgbClr val="16202D"/>
                </a:solidFill>
                <a:latin typeface="Inter"/>
                <a:ea typeface="Inter"/>
                <a:cs typeface="Inter"/>
              </a:rPr>
              <a:t>STAND OUT</a:t>
            </a:r>
          </a:p>
        </p:txBody>
      </p:sp>
      <p:sp>
        <p:nvSpPr>
          <p:cNvPr id="14" name="TextBox 13"/>
          <p:cNvSpPr txBox="1"/>
          <p:nvPr/>
        </p:nvSpPr>
        <p:spPr>
          <a:xfrm>
            <a:off x="6355080" y="5806440"/>
            <a:ext cx="1097280" cy="502920"/>
          </a:xfrm>
          <a:prstGeom prst="rect">
            <a:avLst/>
          </a:prstGeom>
          <a:noFill/>
        </p:spPr>
        <p:txBody>
          <a:bodyPr wrap="none">
            <a:spAutoFit/>
          </a:bodyPr>
          <a:lstStyle/>
          <a:p>
            <a:r>
              <a:rPr sz="3600" b="1" i="0">
                <a:solidFill>
                  <a:srgbClr val="16202D"/>
                </a:solidFill>
                <a:latin typeface="Barlow Condensed"/>
                <a:ea typeface="Barlow Condensed"/>
                <a:cs typeface="Barlow Condensed"/>
              </a:rPr>
              <a:t>03</a:t>
            </a:r>
          </a:p>
        </p:txBody>
      </p:sp>
      <p:sp>
        <p:nvSpPr>
          <p:cNvPr id="15" name="TextBox 14"/>
          <p:cNvSpPr txBox="1"/>
          <p:nvPr/>
        </p:nvSpPr>
        <p:spPr>
          <a:xfrm>
            <a:off x="6355080" y="6355080"/>
            <a:ext cx="2560320" cy="320040"/>
          </a:xfrm>
          <a:prstGeom prst="rect">
            <a:avLst/>
          </a:prstGeom>
          <a:noFill/>
        </p:spPr>
        <p:txBody>
          <a:bodyPr wrap="none">
            <a:spAutoFit/>
          </a:bodyPr>
          <a:lstStyle/>
          <a:p>
            <a:r>
              <a:rPr sz="1000" b="1" i="0">
                <a:solidFill>
                  <a:srgbClr val="16202D"/>
                </a:solidFill>
                <a:latin typeface="Inter"/>
                <a:ea typeface="Inter"/>
                <a:cs typeface="Inter"/>
              </a:rPr>
              <a:t>WIN MORE WORK</a:t>
            </a:r>
          </a:p>
        </p:txBody>
      </p:sp>
      <p:sp>
        <p:nvSpPr>
          <p:cNvPr id="16" name="TextBox 15"/>
          <p:cNvSpPr txBox="1"/>
          <p:nvPr/>
        </p:nvSpPr>
        <p:spPr>
          <a:xfrm>
            <a:off x="9281160" y="5806440"/>
            <a:ext cx="1097280" cy="502920"/>
          </a:xfrm>
          <a:prstGeom prst="rect">
            <a:avLst/>
          </a:prstGeom>
          <a:noFill/>
        </p:spPr>
        <p:txBody>
          <a:bodyPr wrap="none">
            <a:spAutoFit/>
          </a:bodyPr>
          <a:lstStyle/>
          <a:p>
            <a:r>
              <a:rPr sz="3600" b="1" i="0">
                <a:solidFill>
                  <a:srgbClr val="16202D"/>
                </a:solidFill>
                <a:latin typeface="Barlow Condensed"/>
                <a:ea typeface="Barlow Condensed"/>
                <a:cs typeface="Barlow Condensed"/>
              </a:rPr>
              <a:t>™</a:t>
            </a:r>
          </a:p>
        </p:txBody>
      </p:sp>
      <p:sp>
        <p:nvSpPr>
          <p:cNvPr id="17" name="TextBox 16"/>
          <p:cNvSpPr txBox="1"/>
          <p:nvPr/>
        </p:nvSpPr>
        <p:spPr>
          <a:xfrm>
            <a:off x="9281160" y="6355080"/>
            <a:ext cx="2560320" cy="320040"/>
          </a:xfrm>
          <a:prstGeom prst="rect">
            <a:avLst/>
          </a:prstGeom>
          <a:noFill/>
        </p:spPr>
        <p:txBody>
          <a:bodyPr wrap="none">
            <a:spAutoFit/>
          </a:bodyPr>
          <a:lstStyle/>
          <a:p>
            <a:r>
              <a:rPr sz="1000" b="1" i="0">
                <a:solidFill>
                  <a:srgbClr val="16202D"/>
                </a:solidFill>
                <a:latin typeface="Inter"/>
                <a:ea typeface="Inter"/>
                <a:cs typeface="Inter"/>
              </a:rPr>
              <a:t>TRUST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058400" cy="274320"/>
          </a:xfrm>
          <a:prstGeom prst="rect">
            <a:avLst/>
          </a:prstGeom>
          <a:noFill/>
        </p:spPr>
        <p:txBody>
          <a:bodyPr wrap="none">
            <a:spAutoFit/>
          </a:bodyPr>
          <a:lstStyle/>
          <a:p>
            <a:r>
              <a:rPr sz="1100" b="1" i="0">
                <a:solidFill>
                  <a:srgbClr val="BD7C00"/>
                </a:solidFill>
                <a:latin typeface="Inter"/>
                <a:ea typeface="Inter"/>
                <a:cs typeface="Inter"/>
              </a:rPr>
              <a:t>WHY TRUST MATTERS</a:t>
            </a:r>
          </a:p>
        </p:txBody>
      </p:sp>
      <p:sp>
        <p:nvSpPr>
          <p:cNvPr id="4" name="TextBox 3"/>
          <p:cNvSpPr txBox="1"/>
          <p:nvPr/>
        </p:nvSpPr>
        <p:spPr>
          <a:xfrm>
            <a:off x="685800" y="960120"/>
            <a:ext cx="10515600" cy="2011680"/>
          </a:xfrm>
          <a:prstGeom prst="rect">
            <a:avLst/>
          </a:prstGeom>
          <a:noFill/>
        </p:spPr>
        <p:txBody>
          <a:bodyPr wrap="square">
            <a:spAutoFit/>
          </a:bodyPr>
          <a:lstStyle/>
          <a:p>
            <a:pPr>
              <a:spcAft>
                <a:spcPts val="200"/>
              </a:spcAft>
            </a:pPr>
            <a:r>
              <a:rPr sz="3800" b="1" i="0">
                <a:solidFill>
                  <a:srgbClr val="16202D"/>
                </a:solidFill>
                <a:latin typeface="Barlow Condensed"/>
                <a:ea typeface="Barlow Condensed"/>
                <a:cs typeface="Barlow Condensed"/>
              </a:rPr>
              <a:t>PEOPLE DECIDE BEFORE THEY EVER DIAL YOUR NUMBER.</a:t>
            </a:r>
          </a:p>
        </p:txBody>
      </p:sp>
      <p:sp>
        <p:nvSpPr>
          <p:cNvPr id="5" name="TextBox 4"/>
          <p:cNvSpPr txBox="1"/>
          <p:nvPr/>
        </p:nvSpPr>
        <p:spPr>
          <a:xfrm>
            <a:off x="685800" y="2331720"/>
            <a:ext cx="10058400" cy="1280160"/>
          </a:xfrm>
          <a:prstGeom prst="rect">
            <a:avLst/>
          </a:prstGeom>
          <a:noFill/>
        </p:spPr>
        <p:txBody>
          <a:bodyPr wrap="square">
            <a:spAutoFit/>
          </a:bodyPr>
          <a:lstStyle/>
          <a:p>
            <a:r>
              <a:rPr sz="1700" b="0" i="0">
                <a:solidFill>
                  <a:srgbClr val="64748B"/>
                </a:solidFill>
                <a:latin typeface="Inter"/>
                <a:ea typeface="Inter"/>
                <a:cs typeface="Inter"/>
              </a:rPr>
              <a:t>By the time a homeowner picks up the phone, they've already looked you up. They've checked your site, your reviews, your photos, and quietly decided whether you're the shop they trust. If the answer isn't yes before the call, the phone never rings at all.</a:t>
            </a:r>
          </a:p>
        </p:txBody>
      </p:sp>
      <p:sp>
        <p:nvSpPr>
          <p:cNvPr id="6" name="TextBox 5"/>
          <p:cNvSpPr txBox="1"/>
          <p:nvPr/>
        </p:nvSpPr>
        <p:spPr>
          <a:xfrm>
            <a:off x="685800" y="3977639"/>
            <a:ext cx="9601200" cy="731520"/>
          </a:xfrm>
          <a:prstGeom prst="rect">
            <a:avLst/>
          </a:prstGeom>
          <a:noFill/>
        </p:spPr>
        <p:txBody>
          <a:bodyPr wrap="square">
            <a:spAutoFit/>
          </a:bodyPr>
          <a:lstStyle/>
          <a:p>
            <a:r>
              <a:rPr sz="1600" b="1" i="1">
                <a:solidFill>
                  <a:srgbClr val="16202D"/>
                </a:solidFill>
                <a:latin typeface="Inter"/>
                <a:ea typeface="Inter"/>
                <a:cs typeface="Inter"/>
              </a:rPr>
              <a:t>People don't hire the cheapest contractor. They hire the one they trust.</a:t>
            </a:r>
          </a:p>
        </p:txBody>
      </p:sp>
      <p:sp>
        <p:nvSpPr>
          <p:cNvPr id="7" name="Rectangle 6"/>
          <p:cNvSpPr/>
          <p:nvPr/>
        </p:nvSpPr>
        <p:spPr>
          <a:xfrm>
            <a:off x="685800" y="3977639"/>
            <a:ext cx="38100" cy="685800"/>
          </a:xfrm>
          <a:prstGeom prst="rect">
            <a:avLst/>
          </a:prstGeom>
          <a:solidFill>
            <a:srgbClr val="BD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10528"/>
            <a:ext cx="12191695" cy="347472"/>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47104"/>
            <a:ext cx="9144000" cy="256032"/>
          </a:xfrm>
          <a:prstGeom prst="rect">
            <a:avLst/>
          </a:prstGeom>
          <a:noFill/>
        </p:spPr>
        <p:txBody>
          <a:bodyPr wrap="none">
            <a:spAutoFit/>
          </a:bodyPr>
          <a:lstStyle/>
          <a:p>
            <a:r>
              <a:rPr sz="900" b="0" i="0">
                <a:solidFill>
                  <a:srgbClr val="64748B"/>
                </a:solidFill>
                <a:latin typeface="Inter"/>
                <a:ea typeface="Inter"/>
                <a:cs typeface="Inter"/>
              </a:rPr>
              <a:t>The Blue Collar Video Guys™  ·  bluecollarvideoguys.com</a:t>
            </a:r>
          </a:p>
        </p:txBody>
      </p:sp>
      <p:sp>
        <p:nvSpPr>
          <p:cNvPr id="10" name="TextBox 9"/>
          <p:cNvSpPr txBox="1"/>
          <p:nvPr/>
        </p:nvSpPr>
        <p:spPr>
          <a:xfrm>
            <a:off x="11368735" y="6547104"/>
            <a:ext cx="548640" cy="256032"/>
          </a:xfrm>
          <a:prstGeom prst="rect">
            <a:avLst/>
          </a:prstGeom>
          <a:noFill/>
        </p:spPr>
        <p:txBody>
          <a:bodyPr wrap="none">
            <a:spAutoFit/>
          </a:bodyPr>
          <a:lstStyle/>
          <a:p>
            <a:pPr algn="r"/>
            <a:r>
              <a:rPr sz="900" b="0" i="0">
                <a:solidFill>
                  <a:srgbClr val="BD7C00"/>
                </a:solidFill>
                <a:latin typeface="Inter"/>
                <a:ea typeface="Inter"/>
                <a:cs typeface="Inte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058400" cy="274320"/>
          </a:xfrm>
          <a:prstGeom prst="rect">
            <a:avLst/>
          </a:prstGeom>
          <a:noFill/>
        </p:spPr>
        <p:txBody>
          <a:bodyPr wrap="none">
            <a:spAutoFit/>
          </a:bodyPr>
          <a:lstStyle/>
          <a:p>
            <a:r>
              <a:rPr sz="1100" b="1" i="0">
                <a:solidFill>
                  <a:srgbClr val="BD7C00"/>
                </a:solidFill>
                <a:latin typeface="Inter"/>
                <a:ea typeface="Inter"/>
                <a:cs typeface="Inter"/>
              </a:rPr>
              <a:t>OUR PURPOSE</a:t>
            </a:r>
          </a:p>
        </p:txBody>
      </p:sp>
      <p:sp>
        <p:nvSpPr>
          <p:cNvPr id="4" name="TextBox 3"/>
          <p:cNvSpPr txBox="1"/>
          <p:nvPr/>
        </p:nvSpPr>
        <p:spPr>
          <a:xfrm>
            <a:off x="685800" y="960120"/>
            <a:ext cx="10058400" cy="2011680"/>
          </a:xfrm>
          <a:prstGeom prst="rect">
            <a:avLst/>
          </a:prstGeom>
          <a:noFill/>
        </p:spPr>
        <p:txBody>
          <a:bodyPr wrap="square">
            <a:spAutoFit/>
          </a:bodyPr>
          <a:lstStyle/>
          <a:p>
            <a:pPr>
              <a:spcAft>
                <a:spcPts val="200"/>
              </a:spcAft>
            </a:pPr>
            <a:r>
              <a:rPr sz="4400" b="1" i="0">
                <a:solidFill>
                  <a:srgbClr val="16202D"/>
                </a:solidFill>
                <a:latin typeface="Barlow Condensed"/>
                <a:ea typeface="Barlow Condensed"/>
                <a:cs typeface="Barlow Condensed"/>
              </a:rPr>
              <a:t>YOUR REPUTATION.</a:t>
            </a:r>
          </a:p>
          <a:p>
            <a:pPr>
              <a:spcAft>
                <a:spcPts val="200"/>
              </a:spcAft>
            </a:pPr>
            <a:r>
              <a:rPr sz="4400" b="1" i="0">
                <a:solidFill>
                  <a:srgbClr val="16202D"/>
                </a:solidFill>
                <a:latin typeface="Barlow Condensed"/>
                <a:ea typeface="Barlow Condensed"/>
                <a:cs typeface="Barlow Condensed"/>
              </a:rPr>
              <a:t>YOUR STORY.</a:t>
            </a:r>
          </a:p>
        </p:txBody>
      </p:sp>
      <p:sp>
        <p:nvSpPr>
          <p:cNvPr id="5" name="Rectangle 4"/>
          <p:cNvSpPr/>
          <p:nvPr/>
        </p:nvSpPr>
        <p:spPr>
          <a:xfrm>
            <a:off x="685800" y="2331720"/>
            <a:ext cx="594360" cy="25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606040"/>
            <a:ext cx="10058400" cy="914400"/>
          </a:xfrm>
          <a:prstGeom prst="rect">
            <a:avLst/>
          </a:prstGeom>
          <a:noFill/>
        </p:spPr>
        <p:txBody>
          <a:bodyPr wrap="square">
            <a:spAutoFit/>
          </a:bodyPr>
          <a:lstStyle/>
          <a:p>
            <a:r>
              <a:rPr sz="1500" b="0" i="0">
                <a:solidFill>
                  <a:srgbClr val="64748B"/>
                </a:solidFill>
                <a:latin typeface="Inter"/>
                <a:ea typeface="Inter"/>
                <a:cs typeface="Inter"/>
              </a:rPr>
              <a:t>Blue Collar Video Guys helps you build trust through cinematic video and photography, websites that convert, SEO, and social media. No more hiding behind outdated sites and word of mouth alone.</a:t>
            </a:r>
          </a:p>
        </p:txBody>
      </p:sp>
      <p:sp>
        <p:nvSpPr>
          <p:cNvPr id="7" name="TextBox 6"/>
          <p:cNvSpPr txBox="1"/>
          <p:nvPr/>
        </p:nvSpPr>
        <p:spPr>
          <a:xfrm>
            <a:off x="685800" y="3611880"/>
            <a:ext cx="10058400" cy="914400"/>
          </a:xfrm>
          <a:prstGeom prst="rect">
            <a:avLst/>
          </a:prstGeom>
          <a:noFill/>
        </p:spPr>
        <p:txBody>
          <a:bodyPr wrap="square">
            <a:spAutoFit/>
          </a:bodyPr>
          <a:lstStyle/>
          <a:p>
            <a:r>
              <a:rPr sz="1500" b="0" i="0">
                <a:solidFill>
                  <a:srgbClr val="64748B"/>
                </a:solidFill>
                <a:latin typeface="Inter"/>
                <a:ea typeface="Inter"/>
                <a:cs typeface="Inter"/>
              </a:rPr>
              <a:t>We work with electricians, plumbers, HVAC techs, roofers, welders, and concrete crews across Southern Oregon and Northern California, from Medford to Sacramento. You're the backbone of America. It's time your marketing caught up to your craftsmanship.</a:t>
            </a:r>
          </a:p>
        </p:txBody>
      </p:sp>
      <p:sp>
        <p:nvSpPr>
          <p:cNvPr id="8" name="Rectangle 7"/>
          <p:cNvSpPr/>
          <p:nvPr/>
        </p:nvSpPr>
        <p:spPr>
          <a:xfrm>
            <a:off x="0" y="6510528"/>
            <a:ext cx="12191695" cy="347472"/>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47104"/>
            <a:ext cx="9144000" cy="256032"/>
          </a:xfrm>
          <a:prstGeom prst="rect">
            <a:avLst/>
          </a:prstGeom>
          <a:noFill/>
        </p:spPr>
        <p:txBody>
          <a:bodyPr wrap="none">
            <a:spAutoFit/>
          </a:bodyPr>
          <a:lstStyle/>
          <a:p>
            <a:r>
              <a:rPr sz="900" b="0" i="0">
                <a:solidFill>
                  <a:srgbClr val="64748B"/>
                </a:solidFill>
                <a:latin typeface="Inter"/>
                <a:ea typeface="Inter"/>
                <a:cs typeface="Inter"/>
              </a:rPr>
              <a:t>The Blue Collar Video Guys™  ·  bluecollarvideoguys.com</a:t>
            </a:r>
          </a:p>
        </p:txBody>
      </p:sp>
      <p:sp>
        <p:nvSpPr>
          <p:cNvPr id="10" name="TextBox 9"/>
          <p:cNvSpPr txBox="1"/>
          <p:nvPr/>
        </p:nvSpPr>
        <p:spPr>
          <a:xfrm>
            <a:off x="11368735" y="6547104"/>
            <a:ext cx="548640" cy="256032"/>
          </a:xfrm>
          <a:prstGeom prst="rect">
            <a:avLst/>
          </a:prstGeom>
          <a:noFill/>
        </p:spPr>
        <p:txBody>
          <a:bodyPr wrap="none">
            <a:spAutoFit/>
          </a:bodyPr>
          <a:lstStyle/>
          <a:p>
            <a:pPr algn="r"/>
            <a:r>
              <a:rPr sz="900" b="0" i="0">
                <a:solidFill>
                  <a:srgbClr val="BD7C00"/>
                </a:solidFill>
                <a:latin typeface="Inter"/>
                <a:ea typeface="Inter"/>
                <a:cs typeface="Inte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058400" cy="274320"/>
          </a:xfrm>
          <a:prstGeom prst="rect">
            <a:avLst/>
          </a:prstGeom>
          <a:noFill/>
        </p:spPr>
        <p:txBody>
          <a:bodyPr wrap="none">
            <a:spAutoFit/>
          </a:bodyPr>
          <a:lstStyle/>
          <a:p>
            <a:r>
              <a:rPr sz="1100" b="1" i="0">
                <a:solidFill>
                  <a:srgbClr val="BD7C00"/>
                </a:solidFill>
                <a:latin typeface="Inter"/>
                <a:ea typeface="Inter"/>
                <a:cs typeface="Inter"/>
              </a:rPr>
              <a:t>THE TRUST FRAMEWORK™</a:t>
            </a:r>
          </a:p>
        </p:txBody>
      </p:sp>
      <p:sp>
        <p:nvSpPr>
          <p:cNvPr id="4" name="TextBox 3"/>
          <p:cNvSpPr txBox="1"/>
          <p:nvPr/>
        </p:nvSpPr>
        <p:spPr>
          <a:xfrm>
            <a:off x="685800" y="868680"/>
            <a:ext cx="10058400" cy="2011680"/>
          </a:xfrm>
          <a:prstGeom prst="rect">
            <a:avLst/>
          </a:prstGeom>
          <a:noFill/>
        </p:spPr>
        <p:txBody>
          <a:bodyPr wrap="square">
            <a:spAutoFit/>
          </a:bodyPr>
          <a:lstStyle/>
          <a:p>
            <a:pPr>
              <a:spcAft>
                <a:spcPts val="200"/>
              </a:spcAft>
            </a:pPr>
            <a:r>
              <a:rPr sz="4200" b="1" i="0">
                <a:solidFill>
                  <a:srgbClr val="16202D"/>
                </a:solidFill>
                <a:latin typeface="Barlow Condensed"/>
                <a:ea typeface="Barlow Condensed"/>
                <a:cs typeface="Barlow Condensed"/>
              </a:rPr>
              <a:t>OUR PROCESS. OUR PROMISE.</a:t>
            </a:r>
          </a:p>
        </p:txBody>
      </p:sp>
      <p:sp>
        <p:nvSpPr>
          <p:cNvPr id="5" name="Rectangle 4"/>
          <p:cNvSpPr/>
          <p:nvPr/>
        </p:nvSpPr>
        <p:spPr>
          <a:xfrm>
            <a:off x="685800" y="2148840"/>
            <a:ext cx="3429000" cy="25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31720"/>
            <a:ext cx="914400" cy="457200"/>
          </a:xfrm>
          <a:prstGeom prst="rect">
            <a:avLst/>
          </a:prstGeom>
          <a:noFill/>
        </p:spPr>
        <p:txBody>
          <a:bodyPr wrap="none">
            <a:spAutoFit/>
          </a:bodyPr>
          <a:lstStyle/>
          <a:p>
            <a:r>
              <a:rPr sz="3400" b="1" i="0">
                <a:solidFill>
                  <a:srgbClr val="F2AE26"/>
                </a:solidFill>
                <a:latin typeface="Barlow Condensed"/>
                <a:ea typeface="Barlow Condensed"/>
                <a:cs typeface="Barlow Condensed"/>
              </a:rPr>
              <a:t>01</a:t>
            </a:r>
          </a:p>
        </p:txBody>
      </p:sp>
      <p:sp>
        <p:nvSpPr>
          <p:cNvPr id="7" name="TextBox 6"/>
          <p:cNvSpPr txBox="1"/>
          <p:nvPr/>
        </p:nvSpPr>
        <p:spPr>
          <a:xfrm>
            <a:off x="685800" y="2880360"/>
            <a:ext cx="3200400" cy="411480"/>
          </a:xfrm>
          <a:prstGeom prst="rect">
            <a:avLst/>
          </a:prstGeom>
          <a:noFill/>
        </p:spPr>
        <p:txBody>
          <a:bodyPr wrap="none">
            <a:spAutoFit/>
          </a:bodyPr>
          <a:lstStyle/>
          <a:p>
            <a:r>
              <a:rPr sz="2200" b="1" i="0">
                <a:solidFill>
                  <a:srgbClr val="16202D"/>
                </a:solidFill>
                <a:latin typeface="Barlow Condensed"/>
                <a:ea typeface="Barlow Condensed"/>
                <a:cs typeface="Barlow Condensed"/>
              </a:rPr>
              <a:t>Build Trust</a:t>
            </a:r>
          </a:p>
        </p:txBody>
      </p:sp>
      <p:sp>
        <p:nvSpPr>
          <p:cNvPr id="8" name="TextBox 7"/>
          <p:cNvSpPr txBox="1"/>
          <p:nvPr/>
        </p:nvSpPr>
        <p:spPr>
          <a:xfrm>
            <a:off x="685800" y="3337560"/>
            <a:ext cx="3200400" cy="731520"/>
          </a:xfrm>
          <a:prstGeom prst="rect">
            <a:avLst/>
          </a:prstGeom>
          <a:noFill/>
        </p:spPr>
        <p:txBody>
          <a:bodyPr wrap="none">
            <a:spAutoFit/>
          </a:bodyPr>
          <a:lstStyle/>
          <a:p>
            <a:r>
              <a:rPr sz="1300" b="0" i="0">
                <a:solidFill>
                  <a:srgbClr val="64748B"/>
                </a:solidFill>
                <a:latin typeface="Inter"/>
                <a:ea typeface="Inter"/>
                <a:cs typeface="Inter"/>
              </a:rPr>
              <a:t>Earn confidence before the first phone call.</a:t>
            </a:r>
          </a:p>
        </p:txBody>
      </p:sp>
      <p:sp>
        <p:nvSpPr>
          <p:cNvPr id="9" name="Rectangle 8"/>
          <p:cNvSpPr/>
          <p:nvPr/>
        </p:nvSpPr>
        <p:spPr>
          <a:xfrm>
            <a:off x="4389120" y="2148840"/>
            <a:ext cx="3429000" cy="25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2331720"/>
            <a:ext cx="914400" cy="457200"/>
          </a:xfrm>
          <a:prstGeom prst="rect">
            <a:avLst/>
          </a:prstGeom>
          <a:noFill/>
        </p:spPr>
        <p:txBody>
          <a:bodyPr wrap="none">
            <a:spAutoFit/>
          </a:bodyPr>
          <a:lstStyle/>
          <a:p>
            <a:r>
              <a:rPr sz="3400" b="1" i="0">
                <a:solidFill>
                  <a:srgbClr val="F2AE26"/>
                </a:solidFill>
                <a:latin typeface="Barlow Condensed"/>
                <a:ea typeface="Barlow Condensed"/>
                <a:cs typeface="Barlow Condensed"/>
              </a:rPr>
              <a:t>02</a:t>
            </a:r>
          </a:p>
        </p:txBody>
      </p:sp>
      <p:sp>
        <p:nvSpPr>
          <p:cNvPr id="11" name="TextBox 10"/>
          <p:cNvSpPr txBox="1"/>
          <p:nvPr/>
        </p:nvSpPr>
        <p:spPr>
          <a:xfrm>
            <a:off x="4389120" y="2880360"/>
            <a:ext cx="3200400" cy="411480"/>
          </a:xfrm>
          <a:prstGeom prst="rect">
            <a:avLst/>
          </a:prstGeom>
          <a:noFill/>
        </p:spPr>
        <p:txBody>
          <a:bodyPr wrap="none">
            <a:spAutoFit/>
          </a:bodyPr>
          <a:lstStyle/>
          <a:p>
            <a:r>
              <a:rPr sz="2200" b="1" i="0">
                <a:solidFill>
                  <a:srgbClr val="16202D"/>
                </a:solidFill>
                <a:latin typeface="Barlow Condensed"/>
                <a:ea typeface="Barlow Condensed"/>
                <a:cs typeface="Barlow Condensed"/>
              </a:rPr>
              <a:t>Stand Out</a:t>
            </a:r>
          </a:p>
        </p:txBody>
      </p:sp>
      <p:sp>
        <p:nvSpPr>
          <p:cNvPr id="12" name="TextBox 11"/>
          <p:cNvSpPr txBox="1"/>
          <p:nvPr/>
        </p:nvSpPr>
        <p:spPr>
          <a:xfrm>
            <a:off x="4389120" y="3337560"/>
            <a:ext cx="3200400" cy="731520"/>
          </a:xfrm>
          <a:prstGeom prst="rect">
            <a:avLst/>
          </a:prstGeom>
          <a:noFill/>
        </p:spPr>
        <p:txBody>
          <a:bodyPr wrap="none">
            <a:spAutoFit/>
          </a:bodyPr>
          <a:lstStyle/>
          <a:p>
            <a:r>
              <a:rPr sz="1300" b="0" i="0">
                <a:solidFill>
                  <a:srgbClr val="64748B"/>
                </a:solidFill>
                <a:latin typeface="Inter"/>
                <a:ea typeface="Inter"/>
                <a:cs typeface="Inter"/>
              </a:rPr>
              <a:t>Become the obvious choice in your market.</a:t>
            </a:r>
          </a:p>
        </p:txBody>
      </p:sp>
      <p:sp>
        <p:nvSpPr>
          <p:cNvPr id="13" name="Rectangle 12"/>
          <p:cNvSpPr/>
          <p:nvPr/>
        </p:nvSpPr>
        <p:spPr>
          <a:xfrm>
            <a:off x="8092440" y="2148840"/>
            <a:ext cx="3429000" cy="25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331720"/>
            <a:ext cx="914400" cy="457200"/>
          </a:xfrm>
          <a:prstGeom prst="rect">
            <a:avLst/>
          </a:prstGeom>
          <a:noFill/>
        </p:spPr>
        <p:txBody>
          <a:bodyPr wrap="none">
            <a:spAutoFit/>
          </a:bodyPr>
          <a:lstStyle/>
          <a:p>
            <a:r>
              <a:rPr sz="3400" b="1" i="0">
                <a:solidFill>
                  <a:srgbClr val="F2AE26"/>
                </a:solidFill>
                <a:latin typeface="Barlow Condensed"/>
                <a:ea typeface="Barlow Condensed"/>
                <a:cs typeface="Barlow Condensed"/>
              </a:rPr>
              <a:t>03</a:t>
            </a:r>
          </a:p>
        </p:txBody>
      </p:sp>
      <p:sp>
        <p:nvSpPr>
          <p:cNvPr id="15" name="TextBox 14"/>
          <p:cNvSpPr txBox="1"/>
          <p:nvPr/>
        </p:nvSpPr>
        <p:spPr>
          <a:xfrm>
            <a:off x="8092440" y="2880360"/>
            <a:ext cx="3200400" cy="411480"/>
          </a:xfrm>
          <a:prstGeom prst="rect">
            <a:avLst/>
          </a:prstGeom>
          <a:noFill/>
        </p:spPr>
        <p:txBody>
          <a:bodyPr wrap="none">
            <a:spAutoFit/>
          </a:bodyPr>
          <a:lstStyle/>
          <a:p>
            <a:r>
              <a:rPr sz="2200" b="1" i="0">
                <a:solidFill>
                  <a:srgbClr val="16202D"/>
                </a:solidFill>
                <a:latin typeface="Barlow Condensed"/>
                <a:ea typeface="Barlow Condensed"/>
                <a:cs typeface="Barlow Condensed"/>
              </a:rPr>
              <a:t>Win More Work</a:t>
            </a:r>
          </a:p>
        </p:txBody>
      </p:sp>
      <p:sp>
        <p:nvSpPr>
          <p:cNvPr id="16" name="TextBox 15"/>
          <p:cNvSpPr txBox="1"/>
          <p:nvPr/>
        </p:nvSpPr>
        <p:spPr>
          <a:xfrm>
            <a:off x="8092440" y="3337560"/>
            <a:ext cx="3200400" cy="731520"/>
          </a:xfrm>
          <a:prstGeom prst="rect">
            <a:avLst/>
          </a:prstGeom>
          <a:noFill/>
        </p:spPr>
        <p:txBody>
          <a:bodyPr wrap="none">
            <a:spAutoFit/>
          </a:bodyPr>
          <a:lstStyle/>
          <a:p>
            <a:r>
              <a:rPr sz="1300" b="0" i="0">
                <a:solidFill>
                  <a:srgbClr val="64748B"/>
                </a:solidFill>
                <a:latin typeface="Inter"/>
                <a:ea typeface="Inter"/>
                <a:cs typeface="Inter"/>
              </a:rPr>
              <a:t>Turn trust into leads, customers, and long-term growth.</a:t>
            </a:r>
          </a:p>
        </p:txBody>
      </p:sp>
      <p:sp>
        <p:nvSpPr>
          <p:cNvPr id="17" name="Rectangle 16"/>
          <p:cNvSpPr/>
          <p:nvPr/>
        </p:nvSpPr>
        <p:spPr>
          <a:xfrm>
            <a:off x="0" y="6510528"/>
            <a:ext cx="12191695" cy="347472"/>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47104"/>
            <a:ext cx="9144000" cy="256032"/>
          </a:xfrm>
          <a:prstGeom prst="rect">
            <a:avLst/>
          </a:prstGeom>
          <a:noFill/>
        </p:spPr>
        <p:txBody>
          <a:bodyPr wrap="none">
            <a:spAutoFit/>
          </a:bodyPr>
          <a:lstStyle/>
          <a:p>
            <a:r>
              <a:rPr sz="900" b="0" i="0">
                <a:solidFill>
                  <a:srgbClr val="64748B"/>
                </a:solidFill>
                <a:latin typeface="Inter"/>
                <a:ea typeface="Inter"/>
                <a:cs typeface="Inter"/>
              </a:rPr>
              <a:t>The Blue Collar Video Guys™  ·  bluecollarvideoguys.com</a:t>
            </a:r>
          </a:p>
        </p:txBody>
      </p:sp>
      <p:sp>
        <p:nvSpPr>
          <p:cNvPr id="19" name="TextBox 18"/>
          <p:cNvSpPr txBox="1"/>
          <p:nvPr/>
        </p:nvSpPr>
        <p:spPr>
          <a:xfrm>
            <a:off x="11368735" y="6547104"/>
            <a:ext cx="548640" cy="256032"/>
          </a:xfrm>
          <a:prstGeom prst="rect">
            <a:avLst/>
          </a:prstGeom>
          <a:noFill/>
        </p:spPr>
        <p:txBody>
          <a:bodyPr wrap="none">
            <a:spAutoFit/>
          </a:bodyPr>
          <a:lstStyle/>
          <a:p>
            <a:pPr algn="r"/>
            <a:r>
              <a:rPr sz="900" b="0" i="0">
                <a:solidFill>
                  <a:srgbClr val="BD7C00"/>
                </a:solidFill>
                <a:latin typeface="Inter"/>
                <a:ea typeface="Inter"/>
                <a:cs typeface="Inte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F2AE26"/>
                </a:solidFill>
                <a:latin typeface="Inter"/>
                <a:ea typeface="Inter"/>
                <a:cs typeface="Inter"/>
              </a:rPr>
              <a:t>THE BLUE COLLAR BLUEPRINT™</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3800" b="1" i="0">
                <a:solidFill>
                  <a:srgbClr val="FFFFFF"/>
                </a:solidFill>
                <a:latin typeface="Barlow Condensed"/>
                <a:ea typeface="Barlow Condensed"/>
                <a:cs typeface="Barlow Condensed"/>
              </a:rPr>
              <a:t>THREE STAGES. ONE PROMISE.</a:t>
            </a:r>
          </a:p>
        </p:txBody>
      </p:sp>
      <p:sp>
        <p:nvSpPr>
          <p:cNvPr id="5" name="Rectangle 4"/>
          <p:cNvSpPr/>
          <p:nvPr/>
        </p:nvSpPr>
        <p:spPr>
          <a:xfrm>
            <a:off x="502920" y="1874519"/>
            <a:ext cx="3611880" cy="416052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74519"/>
            <a:ext cx="50800" cy="41605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10058400" cy="274320"/>
          </a:xfrm>
          <a:prstGeom prst="rect">
            <a:avLst/>
          </a:prstGeom>
          <a:noFill/>
        </p:spPr>
        <p:txBody>
          <a:bodyPr wrap="none">
            <a:spAutoFit/>
          </a:bodyPr>
          <a:lstStyle/>
          <a:p>
            <a:r>
              <a:rPr sz="1100" b="1" i="0">
                <a:solidFill>
                  <a:srgbClr val="F2AE26"/>
                </a:solidFill>
                <a:latin typeface="Inter"/>
                <a:ea typeface="Inter"/>
                <a:cs typeface="Inter"/>
              </a:rPr>
              <a:t>BUILD TRUST</a:t>
            </a:r>
          </a:p>
        </p:txBody>
      </p:sp>
      <p:sp>
        <p:nvSpPr>
          <p:cNvPr id="8" name="TextBox 7"/>
          <p:cNvSpPr txBox="1"/>
          <p:nvPr/>
        </p:nvSpPr>
        <p:spPr>
          <a:xfrm>
            <a:off x="685800" y="2331720"/>
            <a:ext cx="3200400" cy="320040"/>
          </a:xfrm>
          <a:prstGeom prst="rect">
            <a:avLst/>
          </a:prstGeom>
          <a:noFill/>
        </p:spPr>
        <p:txBody>
          <a:bodyPr wrap="none">
            <a:spAutoFit/>
          </a:bodyPr>
          <a:lstStyle/>
          <a:p>
            <a:r>
              <a:rPr sz="2600" b="1" i="0">
                <a:solidFill>
                  <a:srgbClr val="F2AE26"/>
                </a:solidFill>
                <a:latin typeface="Barlow Condensed"/>
                <a:ea typeface="Barlow Condensed"/>
                <a:cs typeface="Barlow Condensed"/>
              </a:rPr>
              <a:t>01</a:t>
            </a:r>
          </a:p>
        </p:txBody>
      </p:sp>
      <p:sp>
        <p:nvSpPr>
          <p:cNvPr id="9" name="TextBox 8"/>
          <p:cNvSpPr txBox="1"/>
          <p:nvPr/>
        </p:nvSpPr>
        <p:spPr>
          <a:xfrm>
            <a:off x="685800" y="2697480"/>
            <a:ext cx="3200400" cy="502920"/>
          </a:xfrm>
          <a:prstGeom prst="rect">
            <a:avLst/>
          </a:prstGeom>
          <a:noFill/>
        </p:spPr>
        <p:txBody>
          <a:bodyPr wrap="none">
            <a:spAutoFit/>
          </a:bodyPr>
          <a:lstStyle/>
          <a:p>
            <a:r>
              <a:rPr sz="1800" b="1" i="0">
                <a:solidFill>
                  <a:srgbClr val="FFFFFF"/>
                </a:solidFill>
                <a:latin typeface="Barlow Condensed"/>
                <a:ea typeface="Barlow Condensed"/>
                <a:cs typeface="Barlow Condensed"/>
              </a:rPr>
              <a:t>Trust First. Sale Second.</a:t>
            </a:r>
          </a:p>
        </p:txBody>
      </p:sp>
      <p:sp>
        <p:nvSpPr>
          <p:cNvPr id="10" name="TextBox 9"/>
          <p:cNvSpPr txBox="1"/>
          <p:nvPr/>
        </p:nvSpPr>
        <p:spPr>
          <a:xfrm>
            <a:off x="685800" y="3246120"/>
            <a:ext cx="3246120" cy="1234440"/>
          </a:xfrm>
          <a:prstGeom prst="rect">
            <a:avLst/>
          </a:prstGeom>
          <a:noFill/>
        </p:spPr>
        <p:txBody>
          <a:bodyPr wrap="square">
            <a:spAutoFit/>
          </a:bodyPr>
          <a:lstStyle/>
          <a:p>
            <a:r>
              <a:rPr sz="1000" b="0" i="0">
                <a:solidFill>
                  <a:srgbClr val="94A3B8"/>
                </a:solidFill>
                <a:latin typeface="Inter"/>
                <a:ea typeface="Inter"/>
                <a:cs typeface="Inter"/>
              </a:rPr>
              <a:t>Answer the questions every customer already asks: who you are, if you're experienced, if you care about quality. Brand stories, testimonials, crew films, education, culture. Trust you can see.</a:t>
            </a:r>
          </a:p>
          <a:p>
            <a:pPr>
              <a:spcBef>
                <a:spcPts val="400"/>
              </a:spcBef>
            </a:pPr>
            <a:r>
              <a:rPr sz="1000" b="0" i="0">
                <a:solidFill>
                  <a:srgbClr val="F5F5F2"/>
                </a:solidFill>
                <a:latin typeface="Inter"/>
                <a:ea typeface="Inter"/>
                <a:cs typeface="Inter"/>
              </a:rPr>
              <a:t>✓  Brand story films</a:t>
            </a:r>
          </a:p>
          <a:p>
            <a:pPr>
              <a:spcBef>
                <a:spcPts val="400"/>
              </a:spcBef>
            </a:pPr>
            <a:r>
              <a:rPr sz="1000" b="0" i="0">
                <a:solidFill>
                  <a:srgbClr val="F5F5F2"/>
                </a:solidFill>
                <a:latin typeface="Inter"/>
                <a:ea typeface="Inter"/>
                <a:cs typeface="Inter"/>
              </a:rPr>
              <a:t>✓  Customer testimonials</a:t>
            </a:r>
          </a:p>
          <a:p>
            <a:pPr>
              <a:spcBef>
                <a:spcPts val="400"/>
              </a:spcBef>
            </a:pPr>
            <a:r>
              <a:rPr sz="1000" b="0" i="0">
                <a:solidFill>
                  <a:srgbClr val="F5F5F2"/>
                </a:solidFill>
                <a:latin typeface="Inter"/>
                <a:ea typeface="Inter"/>
                <a:cs typeface="Inter"/>
              </a:rPr>
              <a:t>✓  Meet-the-crew videos</a:t>
            </a:r>
          </a:p>
          <a:p>
            <a:pPr>
              <a:spcBef>
                <a:spcPts val="400"/>
              </a:spcBef>
            </a:pPr>
            <a:r>
              <a:rPr sz="1000" b="0" i="0">
                <a:solidFill>
                  <a:srgbClr val="F5F5F2"/>
                </a:solidFill>
                <a:latin typeface="Inter"/>
                <a:ea typeface="Inter"/>
                <a:cs typeface="Inter"/>
              </a:rPr>
              <a:t>✓  Educational &amp; BTS content</a:t>
            </a:r>
          </a:p>
        </p:txBody>
      </p:sp>
      <p:sp>
        <p:nvSpPr>
          <p:cNvPr id="11" name="Rectangle 10"/>
          <p:cNvSpPr/>
          <p:nvPr/>
        </p:nvSpPr>
        <p:spPr>
          <a:xfrm>
            <a:off x="4297680" y="1874519"/>
            <a:ext cx="3611880" cy="416052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874519"/>
            <a:ext cx="50800" cy="41605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057400"/>
            <a:ext cx="10058400" cy="274320"/>
          </a:xfrm>
          <a:prstGeom prst="rect">
            <a:avLst/>
          </a:prstGeom>
          <a:noFill/>
        </p:spPr>
        <p:txBody>
          <a:bodyPr wrap="none">
            <a:spAutoFit/>
          </a:bodyPr>
          <a:lstStyle/>
          <a:p>
            <a:r>
              <a:rPr sz="1100" b="1" i="0">
                <a:solidFill>
                  <a:srgbClr val="F2AE26"/>
                </a:solidFill>
                <a:latin typeface="Inter"/>
                <a:ea typeface="Inter"/>
                <a:cs typeface="Inter"/>
              </a:rPr>
              <a:t>STAND OUT</a:t>
            </a:r>
          </a:p>
        </p:txBody>
      </p:sp>
      <p:sp>
        <p:nvSpPr>
          <p:cNvPr id="14" name="TextBox 13"/>
          <p:cNvSpPr txBox="1"/>
          <p:nvPr/>
        </p:nvSpPr>
        <p:spPr>
          <a:xfrm>
            <a:off x="4480560" y="2331720"/>
            <a:ext cx="3200400" cy="320040"/>
          </a:xfrm>
          <a:prstGeom prst="rect">
            <a:avLst/>
          </a:prstGeom>
          <a:noFill/>
        </p:spPr>
        <p:txBody>
          <a:bodyPr wrap="none">
            <a:spAutoFit/>
          </a:bodyPr>
          <a:lstStyle/>
          <a:p>
            <a:r>
              <a:rPr sz="2600" b="1" i="0">
                <a:solidFill>
                  <a:srgbClr val="F2AE26"/>
                </a:solidFill>
                <a:latin typeface="Barlow Condensed"/>
                <a:ea typeface="Barlow Condensed"/>
                <a:cs typeface="Barlow Condensed"/>
              </a:rPr>
              <a:t>02</a:t>
            </a:r>
          </a:p>
        </p:txBody>
      </p:sp>
      <p:sp>
        <p:nvSpPr>
          <p:cNvPr id="15" name="TextBox 14"/>
          <p:cNvSpPr txBox="1"/>
          <p:nvPr/>
        </p:nvSpPr>
        <p:spPr>
          <a:xfrm>
            <a:off x="4480560" y="2697480"/>
            <a:ext cx="3200400" cy="502920"/>
          </a:xfrm>
          <a:prstGeom prst="rect">
            <a:avLst/>
          </a:prstGeom>
          <a:noFill/>
        </p:spPr>
        <p:txBody>
          <a:bodyPr wrap="none">
            <a:spAutoFit/>
          </a:bodyPr>
          <a:lstStyle/>
          <a:p>
            <a:r>
              <a:rPr sz="1800" b="1" i="0">
                <a:solidFill>
                  <a:srgbClr val="FFFFFF"/>
                </a:solidFill>
                <a:latin typeface="Barlow Condensed"/>
                <a:ea typeface="Barlow Condensed"/>
                <a:cs typeface="Barlow Condensed"/>
              </a:rPr>
              <a:t>Get Noticed. Get Hired.</a:t>
            </a:r>
          </a:p>
        </p:txBody>
      </p:sp>
      <p:sp>
        <p:nvSpPr>
          <p:cNvPr id="16" name="TextBox 15"/>
          <p:cNvSpPr txBox="1"/>
          <p:nvPr/>
        </p:nvSpPr>
        <p:spPr>
          <a:xfrm>
            <a:off x="4480560" y="3246120"/>
            <a:ext cx="3246120" cy="1234440"/>
          </a:xfrm>
          <a:prstGeom prst="rect">
            <a:avLst/>
          </a:prstGeom>
          <a:noFill/>
        </p:spPr>
        <p:txBody>
          <a:bodyPr wrap="square">
            <a:spAutoFit/>
          </a:bodyPr>
          <a:lstStyle/>
          <a:p>
            <a:r>
              <a:rPr sz="1000" b="0" i="0">
                <a:solidFill>
                  <a:srgbClr val="94A3B8"/>
                </a:solidFill>
                <a:latin typeface="Inter"/>
                <a:ea typeface="Inter"/>
                <a:cs typeface="Inter"/>
              </a:rPr>
              <a:t>Most shops look the same online. We help you separate with a clear brand, sharp footage, and a site that looks as solid as your work.</a:t>
            </a:r>
          </a:p>
          <a:p>
            <a:pPr>
              <a:spcBef>
                <a:spcPts val="400"/>
              </a:spcBef>
            </a:pPr>
            <a:r>
              <a:rPr sz="1000" b="0" i="0">
                <a:solidFill>
                  <a:srgbClr val="F5F5F2"/>
                </a:solidFill>
                <a:latin typeface="Inter"/>
                <a:ea typeface="Inter"/>
                <a:cs typeface="Inter"/>
              </a:rPr>
              <a:t>✓  Cinematic project videos</a:t>
            </a:r>
          </a:p>
          <a:p>
            <a:pPr>
              <a:spcBef>
                <a:spcPts val="400"/>
              </a:spcBef>
            </a:pPr>
            <a:r>
              <a:rPr sz="1000" b="0" i="0">
                <a:solidFill>
                  <a:srgbClr val="F5F5F2"/>
                </a:solidFill>
                <a:latin typeface="Inter"/>
                <a:ea typeface="Inter"/>
                <a:cs typeface="Inter"/>
              </a:rPr>
              <a:t>✓  Professional photography</a:t>
            </a:r>
          </a:p>
          <a:p>
            <a:pPr>
              <a:spcBef>
                <a:spcPts val="400"/>
              </a:spcBef>
            </a:pPr>
            <a:r>
              <a:rPr sz="1000" b="0" i="0">
                <a:solidFill>
                  <a:srgbClr val="F5F5F2"/>
                </a:solidFill>
                <a:latin typeface="Inter"/>
                <a:ea typeface="Inter"/>
                <a:cs typeface="Inter"/>
              </a:rPr>
              <a:t>✓  Modern website design</a:t>
            </a:r>
          </a:p>
          <a:p>
            <a:pPr>
              <a:spcBef>
                <a:spcPts val="400"/>
              </a:spcBef>
            </a:pPr>
            <a:r>
              <a:rPr sz="1000" b="0" i="0">
                <a:solidFill>
                  <a:srgbClr val="F5F5F2"/>
                </a:solidFill>
                <a:latin typeface="Inter"/>
                <a:ea typeface="Inter"/>
                <a:cs typeface="Inter"/>
              </a:rPr>
              <a:t>✓  Social &amp; monthly content</a:t>
            </a:r>
          </a:p>
        </p:txBody>
      </p:sp>
      <p:sp>
        <p:nvSpPr>
          <p:cNvPr id="17" name="Rectangle 16"/>
          <p:cNvSpPr/>
          <p:nvPr/>
        </p:nvSpPr>
        <p:spPr>
          <a:xfrm>
            <a:off x="8092440" y="1874519"/>
            <a:ext cx="3611880" cy="416052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74519"/>
            <a:ext cx="50800" cy="41605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2057400"/>
            <a:ext cx="10058400" cy="274320"/>
          </a:xfrm>
          <a:prstGeom prst="rect">
            <a:avLst/>
          </a:prstGeom>
          <a:noFill/>
        </p:spPr>
        <p:txBody>
          <a:bodyPr wrap="none">
            <a:spAutoFit/>
          </a:bodyPr>
          <a:lstStyle/>
          <a:p>
            <a:r>
              <a:rPr sz="1100" b="1" i="0">
                <a:solidFill>
                  <a:srgbClr val="F2AE26"/>
                </a:solidFill>
                <a:latin typeface="Inter"/>
                <a:ea typeface="Inter"/>
                <a:cs typeface="Inter"/>
              </a:rPr>
              <a:t>WIN MORE WORK</a:t>
            </a:r>
          </a:p>
        </p:txBody>
      </p:sp>
      <p:sp>
        <p:nvSpPr>
          <p:cNvPr id="20" name="TextBox 19"/>
          <p:cNvSpPr txBox="1"/>
          <p:nvPr/>
        </p:nvSpPr>
        <p:spPr>
          <a:xfrm>
            <a:off x="8275320" y="2331720"/>
            <a:ext cx="3200400" cy="320040"/>
          </a:xfrm>
          <a:prstGeom prst="rect">
            <a:avLst/>
          </a:prstGeom>
          <a:noFill/>
        </p:spPr>
        <p:txBody>
          <a:bodyPr wrap="none">
            <a:spAutoFit/>
          </a:bodyPr>
          <a:lstStyle/>
          <a:p>
            <a:r>
              <a:rPr sz="2600" b="1" i="0">
                <a:solidFill>
                  <a:srgbClr val="F2AE26"/>
                </a:solidFill>
                <a:latin typeface="Barlow Condensed"/>
                <a:ea typeface="Barlow Condensed"/>
                <a:cs typeface="Barlow Condensed"/>
              </a:rPr>
              <a:t>03</a:t>
            </a:r>
          </a:p>
        </p:txBody>
      </p:sp>
      <p:sp>
        <p:nvSpPr>
          <p:cNvPr id="21" name="TextBox 20"/>
          <p:cNvSpPr txBox="1"/>
          <p:nvPr/>
        </p:nvSpPr>
        <p:spPr>
          <a:xfrm>
            <a:off x="8275320" y="2697480"/>
            <a:ext cx="3200400" cy="502920"/>
          </a:xfrm>
          <a:prstGeom prst="rect">
            <a:avLst/>
          </a:prstGeom>
          <a:noFill/>
        </p:spPr>
        <p:txBody>
          <a:bodyPr wrap="none">
            <a:spAutoFit/>
          </a:bodyPr>
          <a:lstStyle/>
          <a:p>
            <a:r>
              <a:rPr sz="1800" b="1" i="0">
                <a:solidFill>
                  <a:srgbClr val="FFFFFF"/>
                </a:solidFill>
                <a:latin typeface="Barlow Condensed"/>
                <a:ea typeface="Barlow Condensed"/>
                <a:cs typeface="Barlow Condensed"/>
              </a:rPr>
              <a:t>More Trust. More Work.</a:t>
            </a:r>
          </a:p>
        </p:txBody>
      </p:sp>
      <p:sp>
        <p:nvSpPr>
          <p:cNvPr id="22" name="TextBox 21"/>
          <p:cNvSpPr txBox="1"/>
          <p:nvPr/>
        </p:nvSpPr>
        <p:spPr>
          <a:xfrm>
            <a:off x="8275320" y="3246120"/>
            <a:ext cx="3246120" cy="1234440"/>
          </a:xfrm>
          <a:prstGeom prst="rect">
            <a:avLst/>
          </a:prstGeom>
          <a:noFill/>
        </p:spPr>
        <p:txBody>
          <a:bodyPr wrap="square">
            <a:spAutoFit/>
          </a:bodyPr>
          <a:lstStyle/>
          <a:p>
            <a:r>
              <a:rPr sz="1000" b="0" i="0">
                <a:solidFill>
                  <a:srgbClr val="94A3B8"/>
                </a:solidFill>
                <a:latin typeface="Inter"/>
                <a:ea typeface="Inter"/>
                <a:cs typeface="Inter"/>
              </a:rPr>
              <a:t>Stop competing on price alone. Attract better customers, earn referrals, and build brand value that compounds.</a:t>
            </a:r>
          </a:p>
          <a:p>
            <a:pPr>
              <a:spcBef>
                <a:spcPts val="400"/>
              </a:spcBef>
            </a:pPr>
            <a:r>
              <a:rPr sz="1000" b="0" i="0">
                <a:solidFill>
                  <a:srgbClr val="F5F5F2"/>
                </a:solidFill>
                <a:latin typeface="Inter"/>
                <a:ea typeface="Inter"/>
                <a:cs typeface="Inter"/>
              </a:rPr>
              <a:t>✓  Better leads &amp; bigger projects</a:t>
            </a:r>
          </a:p>
          <a:p>
            <a:pPr>
              <a:spcBef>
                <a:spcPts val="400"/>
              </a:spcBef>
            </a:pPr>
            <a:r>
              <a:rPr sz="1000" b="0" i="0">
                <a:solidFill>
                  <a:srgbClr val="F5F5F2"/>
                </a:solidFill>
                <a:latin typeface="Inter"/>
                <a:ea typeface="Inter"/>
                <a:cs typeface="Inter"/>
              </a:rPr>
              <a:t>✓  Referral systems</a:t>
            </a:r>
          </a:p>
          <a:p>
            <a:pPr>
              <a:spcBef>
                <a:spcPts val="400"/>
              </a:spcBef>
            </a:pPr>
            <a:r>
              <a:rPr sz="1000" b="0" i="0">
                <a:solidFill>
                  <a:srgbClr val="F5F5F2"/>
                </a:solidFill>
                <a:latin typeface="Inter"/>
                <a:ea typeface="Inter"/>
                <a:cs typeface="Inter"/>
              </a:rPr>
              <a:t>✓  Recruiting campaigns</a:t>
            </a:r>
          </a:p>
          <a:p>
            <a:pPr>
              <a:spcBef>
                <a:spcPts val="400"/>
              </a:spcBef>
            </a:pPr>
            <a:r>
              <a:rPr sz="1000" b="0" i="0">
                <a:solidFill>
                  <a:srgbClr val="F5F5F2"/>
                </a:solidFill>
                <a:latin typeface="Inter"/>
                <a:ea typeface="Inter"/>
                <a:cs typeface="Inter"/>
              </a:rPr>
              <a:t>✓  Long-term growth consulting</a:t>
            </a:r>
          </a:p>
        </p:txBody>
      </p:sp>
      <p:sp>
        <p:nvSpPr>
          <p:cNvPr id="23" name="Rectangle 22"/>
          <p:cNvSpPr/>
          <p:nvPr/>
        </p:nvSpPr>
        <p:spPr>
          <a:xfrm>
            <a:off x="0" y="6510528"/>
            <a:ext cx="12191695" cy="347472"/>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47104"/>
            <a:ext cx="9144000" cy="256032"/>
          </a:xfrm>
          <a:prstGeom prst="rect">
            <a:avLst/>
          </a:prstGeom>
          <a:noFill/>
        </p:spPr>
        <p:txBody>
          <a:bodyPr wrap="none">
            <a:spAutoFit/>
          </a:bodyPr>
          <a:lstStyle/>
          <a:p>
            <a:r>
              <a:rPr sz="900" b="0" i="0">
                <a:solidFill>
                  <a:srgbClr val="94A3B8"/>
                </a:solidFill>
                <a:latin typeface="Inter"/>
                <a:ea typeface="Inter"/>
                <a:cs typeface="Inter"/>
              </a:rPr>
              <a:t>The Blue Collar Video Guys™  ·  bluecollarvideoguys.com</a:t>
            </a:r>
          </a:p>
        </p:txBody>
      </p:sp>
      <p:sp>
        <p:nvSpPr>
          <p:cNvPr id="25" name="TextBox 24"/>
          <p:cNvSpPr txBox="1"/>
          <p:nvPr/>
        </p:nvSpPr>
        <p:spPr>
          <a:xfrm>
            <a:off x="11368735" y="6547104"/>
            <a:ext cx="548640" cy="256032"/>
          </a:xfrm>
          <a:prstGeom prst="rect">
            <a:avLst/>
          </a:prstGeom>
          <a:noFill/>
        </p:spPr>
        <p:txBody>
          <a:bodyPr wrap="none">
            <a:spAutoFit/>
          </a:bodyPr>
          <a:lstStyle/>
          <a:p>
            <a:pPr algn="r"/>
            <a:r>
              <a:rPr sz="900" b="0" i="0">
                <a:solidFill>
                  <a:srgbClr val="F2AE26"/>
                </a:solidFill>
                <a:latin typeface="Inter"/>
                <a:ea typeface="Inter"/>
                <a:cs typeface="Inte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BD7C00"/>
                </a:solidFill>
                <a:latin typeface="Inter"/>
                <a:ea typeface="Inter"/>
                <a:cs typeface="Inter"/>
              </a:rPr>
              <a:t>FULL SCOPE</a:t>
            </a:r>
          </a:p>
        </p:txBody>
      </p:sp>
      <p:sp>
        <p:nvSpPr>
          <p:cNvPr id="4" name="TextBox 3"/>
          <p:cNvSpPr txBox="1"/>
          <p:nvPr/>
        </p:nvSpPr>
        <p:spPr>
          <a:xfrm>
            <a:off x="685800" y="777240"/>
            <a:ext cx="6400800" cy="2011680"/>
          </a:xfrm>
          <a:prstGeom prst="rect">
            <a:avLst/>
          </a:prstGeom>
          <a:noFill/>
        </p:spPr>
        <p:txBody>
          <a:bodyPr wrap="square">
            <a:spAutoFit/>
          </a:bodyPr>
          <a:lstStyle/>
          <a:p>
            <a:pPr>
              <a:spcAft>
                <a:spcPts val="200"/>
              </a:spcAft>
            </a:pPr>
            <a:r>
              <a:rPr sz="3600" b="1" i="0">
                <a:solidFill>
                  <a:srgbClr val="16202D"/>
                </a:solidFill>
                <a:latin typeface="Barlow Condensed"/>
                <a:ea typeface="Barlow Condensed"/>
                <a:cs typeface="Barlow Condensed"/>
              </a:rPr>
              <a:t>ONE CREW.</a:t>
            </a:r>
          </a:p>
          <a:p>
            <a:pPr>
              <a:spcAft>
                <a:spcPts val="200"/>
              </a:spcAft>
            </a:pPr>
            <a:r>
              <a:rPr sz="3600" b="1" i="0">
                <a:solidFill>
                  <a:srgbClr val="16202D"/>
                </a:solidFill>
                <a:latin typeface="Barlow Condensed"/>
                <a:ea typeface="Barlow Condensed"/>
                <a:cs typeface="Barlow Condensed"/>
              </a:rPr>
              <a:t>EVERY TRADE YOU NEED.</a:t>
            </a:r>
          </a:p>
        </p:txBody>
      </p:sp>
      <p:sp>
        <p:nvSpPr>
          <p:cNvPr id="5" name="TextBox 4"/>
          <p:cNvSpPr txBox="1"/>
          <p:nvPr/>
        </p:nvSpPr>
        <p:spPr>
          <a:xfrm>
            <a:off x="6858000" y="960120"/>
            <a:ext cx="4572000" cy="1097280"/>
          </a:xfrm>
          <a:prstGeom prst="rect">
            <a:avLst/>
          </a:prstGeom>
          <a:noFill/>
        </p:spPr>
        <p:txBody>
          <a:bodyPr wrap="square">
            <a:spAutoFit/>
          </a:bodyPr>
          <a:lstStyle/>
          <a:p>
            <a:r>
              <a:rPr sz="1300" b="0" i="0">
                <a:solidFill>
                  <a:srgbClr val="64748B"/>
                </a:solidFill>
                <a:latin typeface="Inter"/>
                <a:ea typeface="Inter"/>
                <a:cs typeface="Inter"/>
              </a:rPr>
              <a:t>Every service ties back to one outcome: Build Trust, Stand Out, or Win More Work. Nothing on this list is filler.</a:t>
            </a:r>
          </a:p>
        </p:txBody>
      </p:sp>
      <p:sp>
        <p:nvSpPr>
          <p:cNvPr id="6" name="Rectangle 5"/>
          <p:cNvSpPr/>
          <p:nvPr/>
        </p:nvSpPr>
        <p:spPr>
          <a:xfrm>
            <a:off x="502920" y="2011680"/>
            <a:ext cx="36576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011680"/>
            <a:ext cx="36576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10058400" cy="274320"/>
          </a:xfrm>
          <a:prstGeom prst="rect">
            <a:avLst/>
          </a:prstGeom>
          <a:noFill/>
        </p:spPr>
        <p:txBody>
          <a:bodyPr wrap="none">
            <a:spAutoFit/>
          </a:bodyPr>
          <a:lstStyle/>
          <a:p>
            <a:r>
              <a:rPr sz="1100" b="1" i="0">
                <a:solidFill>
                  <a:srgbClr val="BD7C00"/>
                </a:solidFill>
                <a:latin typeface="Inter"/>
                <a:ea typeface="Inter"/>
                <a:cs typeface="Inter"/>
              </a:rPr>
              <a:t>BUILD TRUST</a:t>
            </a:r>
          </a:p>
        </p:txBody>
      </p:sp>
      <p:sp>
        <p:nvSpPr>
          <p:cNvPr id="9" name="TextBox 8"/>
          <p:cNvSpPr txBox="1"/>
          <p:nvPr/>
        </p:nvSpPr>
        <p:spPr>
          <a:xfrm>
            <a:off x="731520" y="2514600"/>
            <a:ext cx="3200400" cy="502920"/>
          </a:xfrm>
          <a:prstGeom prst="rect">
            <a:avLst/>
          </a:prstGeom>
          <a:noFill/>
        </p:spPr>
        <p:txBody>
          <a:bodyPr wrap="none">
            <a:spAutoFit/>
          </a:bodyPr>
          <a:lstStyle/>
          <a:p>
            <a:r>
              <a:rPr sz="1800" b="1" i="0">
                <a:solidFill>
                  <a:srgbClr val="16202D"/>
                </a:solidFill>
                <a:latin typeface="Barlow Condensed"/>
                <a:ea typeface="Barlow Condensed"/>
                <a:cs typeface="Barlow Condensed"/>
              </a:rPr>
              <a:t>Cinematic Video and Photo</a:t>
            </a:r>
          </a:p>
        </p:txBody>
      </p:sp>
      <p:sp>
        <p:nvSpPr>
          <p:cNvPr id="10" name="TextBox 9"/>
          <p:cNvSpPr txBox="1"/>
          <p:nvPr/>
        </p:nvSpPr>
        <p:spPr>
          <a:xfrm>
            <a:off x="731520" y="3063240"/>
            <a:ext cx="3200400" cy="182880"/>
          </a:xfrm>
          <a:prstGeom prst="rect">
            <a:avLst/>
          </a:prstGeom>
          <a:noFill/>
        </p:spPr>
        <p:txBody>
          <a:bodyPr wrap="square">
            <a:spAutoFit/>
          </a:bodyPr>
          <a:lstStyle/>
          <a:p>
            <a:r>
              <a:rPr sz="1100" b="0" i="0">
                <a:solidFill>
                  <a:srgbClr val="64748B"/>
                </a:solidFill>
                <a:latin typeface="Inter"/>
                <a:ea typeface="Inter"/>
                <a:cs typeface="Inter"/>
              </a:rPr>
              <a:t>Brand story films, project showcases, crew profiles, and photography that show your craftsmanship, not stock photos.</a:t>
            </a:r>
          </a:p>
        </p:txBody>
      </p:sp>
      <p:sp>
        <p:nvSpPr>
          <p:cNvPr id="11" name="Rectangle 10"/>
          <p:cNvSpPr/>
          <p:nvPr/>
        </p:nvSpPr>
        <p:spPr>
          <a:xfrm>
            <a:off x="4251960" y="2011680"/>
            <a:ext cx="36576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2011680"/>
            <a:ext cx="36576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194560"/>
            <a:ext cx="10058400" cy="274320"/>
          </a:xfrm>
          <a:prstGeom prst="rect">
            <a:avLst/>
          </a:prstGeom>
          <a:noFill/>
        </p:spPr>
        <p:txBody>
          <a:bodyPr wrap="none">
            <a:spAutoFit/>
          </a:bodyPr>
          <a:lstStyle/>
          <a:p>
            <a:r>
              <a:rPr sz="1100" b="1" i="0">
                <a:solidFill>
                  <a:srgbClr val="BD7C00"/>
                </a:solidFill>
                <a:latin typeface="Inter"/>
                <a:ea typeface="Inter"/>
                <a:cs typeface="Inter"/>
              </a:rPr>
              <a:t>STAND OUT</a:t>
            </a:r>
          </a:p>
        </p:txBody>
      </p:sp>
      <p:sp>
        <p:nvSpPr>
          <p:cNvPr id="14" name="TextBox 13"/>
          <p:cNvSpPr txBox="1"/>
          <p:nvPr/>
        </p:nvSpPr>
        <p:spPr>
          <a:xfrm>
            <a:off x="4480560" y="2514600"/>
            <a:ext cx="3200400" cy="502920"/>
          </a:xfrm>
          <a:prstGeom prst="rect">
            <a:avLst/>
          </a:prstGeom>
          <a:noFill/>
        </p:spPr>
        <p:txBody>
          <a:bodyPr wrap="none">
            <a:spAutoFit/>
          </a:bodyPr>
          <a:lstStyle/>
          <a:p>
            <a:r>
              <a:rPr sz="1800" b="1" i="0">
                <a:solidFill>
                  <a:srgbClr val="16202D"/>
                </a:solidFill>
                <a:latin typeface="Barlow Condensed"/>
                <a:ea typeface="Barlow Condensed"/>
                <a:cs typeface="Barlow Condensed"/>
              </a:rPr>
              <a:t>Website Design</a:t>
            </a:r>
          </a:p>
        </p:txBody>
      </p:sp>
      <p:sp>
        <p:nvSpPr>
          <p:cNvPr id="15" name="TextBox 14"/>
          <p:cNvSpPr txBox="1"/>
          <p:nvPr/>
        </p:nvSpPr>
        <p:spPr>
          <a:xfrm>
            <a:off x="4480560" y="3063240"/>
            <a:ext cx="3200400" cy="182880"/>
          </a:xfrm>
          <a:prstGeom prst="rect">
            <a:avLst/>
          </a:prstGeom>
          <a:noFill/>
        </p:spPr>
        <p:txBody>
          <a:bodyPr wrap="square">
            <a:spAutoFit/>
          </a:bodyPr>
          <a:lstStyle/>
          <a:p>
            <a:r>
              <a:rPr sz="1100" b="0" i="0">
                <a:solidFill>
                  <a:srgbClr val="64748B"/>
                </a:solidFill>
                <a:latin typeface="Inter"/>
                <a:ea typeface="Inter"/>
                <a:cs typeface="Inter"/>
              </a:rPr>
              <a:t>A site that looks as solid as your work, built to turn visitors into discovery calls, not just page views.</a:t>
            </a:r>
          </a:p>
        </p:txBody>
      </p:sp>
      <p:sp>
        <p:nvSpPr>
          <p:cNvPr id="16" name="Rectangle 15"/>
          <p:cNvSpPr/>
          <p:nvPr/>
        </p:nvSpPr>
        <p:spPr>
          <a:xfrm>
            <a:off x="8001000" y="2011680"/>
            <a:ext cx="36576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2011680"/>
            <a:ext cx="36576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194560"/>
            <a:ext cx="10058400" cy="274320"/>
          </a:xfrm>
          <a:prstGeom prst="rect">
            <a:avLst/>
          </a:prstGeom>
          <a:noFill/>
        </p:spPr>
        <p:txBody>
          <a:bodyPr wrap="none">
            <a:spAutoFit/>
          </a:bodyPr>
          <a:lstStyle/>
          <a:p>
            <a:r>
              <a:rPr sz="1100" b="1" i="0">
                <a:solidFill>
                  <a:srgbClr val="BD7C00"/>
                </a:solidFill>
                <a:latin typeface="Inter"/>
                <a:ea typeface="Inter"/>
                <a:cs typeface="Inter"/>
              </a:rPr>
              <a:t>WIN MORE WORK</a:t>
            </a:r>
          </a:p>
        </p:txBody>
      </p:sp>
      <p:sp>
        <p:nvSpPr>
          <p:cNvPr id="19" name="TextBox 18"/>
          <p:cNvSpPr txBox="1"/>
          <p:nvPr/>
        </p:nvSpPr>
        <p:spPr>
          <a:xfrm>
            <a:off x="8229600" y="2514600"/>
            <a:ext cx="3200400" cy="502920"/>
          </a:xfrm>
          <a:prstGeom prst="rect">
            <a:avLst/>
          </a:prstGeom>
          <a:noFill/>
        </p:spPr>
        <p:txBody>
          <a:bodyPr wrap="none">
            <a:spAutoFit/>
          </a:bodyPr>
          <a:lstStyle/>
          <a:p>
            <a:r>
              <a:rPr sz="1800" b="1" i="0">
                <a:solidFill>
                  <a:srgbClr val="16202D"/>
                </a:solidFill>
                <a:latin typeface="Barlow Condensed"/>
                <a:ea typeface="Barlow Condensed"/>
                <a:cs typeface="Barlow Condensed"/>
              </a:rPr>
              <a:t>SEO</a:t>
            </a:r>
          </a:p>
        </p:txBody>
      </p:sp>
      <p:sp>
        <p:nvSpPr>
          <p:cNvPr id="20" name="TextBox 19"/>
          <p:cNvSpPr txBox="1"/>
          <p:nvPr/>
        </p:nvSpPr>
        <p:spPr>
          <a:xfrm>
            <a:off x="8229600" y="3063240"/>
            <a:ext cx="3200400" cy="182880"/>
          </a:xfrm>
          <a:prstGeom prst="rect">
            <a:avLst/>
          </a:prstGeom>
          <a:noFill/>
        </p:spPr>
        <p:txBody>
          <a:bodyPr wrap="square">
            <a:spAutoFit/>
          </a:bodyPr>
          <a:lstStyle/>
          <a:p>
            <a:r>
              <a:rPr sz="1100" b="0" i="0">
                <a:solidFill>
                  <a:srgbClr val="64748B"/>
                </a:solidFill>
                <a:latin typeface="Inter"/>
                <a:ea typeface="Inter"/>
                <a:cs typeface="Inter"/>
              </a:rPr>
              <a:t>Show up when local homeowners search for the trade you do best, before they ever find your competitor.</a:t>
            </a:r>
          </a:p>
        </p:txBody>
      </p:sp>
      <p:sp>
        <p:nvSpPr>
          <p:cNvPr id="21" name="Rectangle 20"/>
          <p:cNvSpPr/>
          <p:nvPr/>
        </p:nvSpPr>
        <p:spPr>
          <a:xfrm>
            <a:off x="502920" y="3520440"/>
            <a:ext cx="36576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520440"/>
            <a:ext cx="36576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03320"/>
            <a:ext cx="10058400" cy="274320"/>
          </a:xfrm>
          <a:prstGeom prst="rect">
            <a:avLst/>
          </a:prstGeom>
          <a:noFill/>
        </p:spPr>
        <p:txBody>
          <a:bodyPr wrap="none">
            <a:spAutoFit/>
          </a:bodyPr>
          <a:lstStyle/>
          <a:p>
            <a:r>
              <a:rPr sz="1100" b="1" i="0">
                <a:solidFill>
                  <a:srgbClr val="BD7C00"/>
                </a:solidFill>
                <a:latin typeface="Inter"/>
                <a:ea typeface="Inter"/>
                <a:cs typeface="Inter"/>
              </a:rPr>
              <a:t>STAND OUT</a:t>
            </a:r>
          </a:p>
        </p:txBody>
      </p:sp>
      <p:sp>
        <p:nvSpPr>
          <p:cNvPr id="24" name="TextBox 23"/>
          <p:cNvSpPr txBox="1"/>
          <p:nvPr/>
        </p:nvSpPr>
        <p:spPr>
          <a:xfrm>
            <a:off x="731520" y="4023360"/>
            <a:ext cx="3200400" cy="502920"/>
          </a:xfrm>
          <a:prstGeom prst="rect">
            <a:avLst/>
          </a:prstGeom>
          <a:noFill/>
        </p:spPr>
        <p:txBody>
          <a:bodyPr wrap="none">
            <a:spAutoFit/>
          </a:bodyPr>
          <a:lstStyle/>
          <a:p>
            <a:r>
              <a:rPr sz="1800" b="1" i="0">
                <a:solidFill>
                  <a:srgbClr val="16202D"/>
                </a:solidFill>
                <a:latin typeface="Barlow Condensed"/>
                <a:ea typeface="Barlow Condensed"/>
                <a:cs typeface="Barlow Condensed"/>
              </a:rPr>
              <a:t>Social Media</a:t>
            </a:r>
          </a:p>
        </p:txBody>
      </p:sp>
      <p:sp>
        <p:nvSpPr>
          <p:cNvPr id="25" name="TextBox 24"/>
          <p:cNvSpPr txBox="1"/>
          <p:nvPr/>
        </p:nvSpPr>
        <p:spPr>
          <a:xfrm>
            <a:off x="731520" y="4572000"/>
            <a:ext cx="3200400" cy="182880"/>
          </a:xfrm>
          <a:prstGeom prst="rect">
            <a:avLst/>
          </a:prstGeom>
          <a:noFill/>
        </p:spPr>
        <p:txBody>
          <a:bodyPr wrap="square">
            <a:spAutoFit/>
          </a:bodyPr>
          <a:lstStyle/>
          <a:p>
            <a:r>
              <a:rPr sz="1100" b="0" i="0">
                <a:solidFill>
                  <a:srgbClr val="64748B"/>
                </a:solidFill>
                <a:latin typeface="Inter"/>
                <a:ea typeface="Inter"/>
                <a:cs typeface="Inter"/>
              </a:rPr>
              <a:t>Monthly content that keeps your crew, culture, and craftsmanship in front of the right people, consistently.</a:t>
            </a:r>
          </a:p>
        </p:txBody>
      </p:sp>
      <p:sp>
        <p:nvSpPr>
          <p:cNvPr id="26" name="Rectangle 25"/>
          <p:cNvSpPr/>
          <p:nvPr/>
        </p:nvSpPr>
        <p:spPr>
          <a:xfrm>
            <a:off x="4251960" y="3520440"/>
            <a:ext cx="365760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60" y="3520440"/>
            <a:ext cx="365760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3703320"/>
            <a:ext cx="10058400" cy="274320"/>
          </a:xfrm>
          <a:prstGeom prst="rect">
            <a:avLst/>
          </a:prstGeom>
          <a:noFill/>
        </p:spPr>
        <p:txBody>
          <a:bodyPr wrap="none">
            <a:spAutoFit/>
          </a:bodyPr>
          <a:lstStyle/>
          <a:p>
            <a:r>
              <a:rPr sz="1100" b="1" i="0">
                <a:solidFill>
                  <a:srgbClr val="BD7C00"/>
                </a:solidFill>
                <a:latin typeface="Inter"/>
                <a:ea typeface="Inter"/>
                <a:cs typeface="Inter"/>
              </a:rPr>
              <a:t>WIN MORE WORK</a:t>
            </a:r>
          </a:p>
        </p:txBody>
      </p:sp>
      <p:sp>
        <p:nvSpPr>
          <p:cNvPr id="29" name="TextBox 28"/>
          <p:cNvSpPr txBox="1"/>
          <p:nvPr/>
        </p:nvSpPr>
        <p:spPr>
          <a:xfrm>
            <a:off x="4480560" y="4023360"/>
            <a:ext cx="3200400" cy="502920"/>
          </a:xfrm>
          <a:prstGeom prst="rect">
            <a:avLst/>
          </a:prstGeom>
          <a:noFill/>
        </p:spPr>
        <p:txBody>
          <a:bodyPr wrap="none">
            <a:spAutoFit/>
          </a:bodyPr>
          <a:lstStyle/>
          <a:p>
            <a:r>
              <a:rPr sz="1800" b="1" i="0">
                <a:solidFill>
                  <a:srgbClr val="16202D"/>
                </a:solidFill>
                <a:latin typeface="Barlow Condensed"/>
                <a:ea typeface="Barlow Condensed"/>
                <a:cs typeface="Barlow Condensed"/>
              </a:rPr>
              <a:t>Digital Marketing</a:t>
            </a:r>
          </a:p>
        </p:txBody>
      </p:sp>
      <p:sp>
        <p:nvSpPr>
          <p:cNvPr id="30" name="TextBox 29"/>
          <p:cNvSpPr txBox="1"/>
          <p:nvPr/>
        </p:nvSpPr>
        <p:spPr>
          <a:xfrm>
            <a:off x="4480560" y="4572000"/>
            <a:ext cx="3200400" cy="182880"/>
          </a:xfrm>
          <a:prstGeom prst="rect">
            <a:avLst/>
          </a:prstGeom>
          <a:noFill/>
        </p:spPr>
        <p:txBody>
          <a:bodyPr wrap="square">
            <a:spAutoFit/>
          </a:bodyPr>
          <a:lstStyle/>
          <a:p>
            <a:r>
              <a:rPr sz="1100" b="0" i="0">
                <a:solidFill>
                  <a:srgbClr val="64748B"/>
                </a:solidFill>
                <a:latin typeface="Inter"/>
                <a:ea typeface="Inter"/>
                <a:cs typeface="Inter"/>
              </a:rPr>
              <a:t>Strategy, ad management, and content planning that turns your story into a steady pipeline of the right jobs.</a:t>
            </a:r>
          </a:p>
        </p:txBody>
      </p:sp>
      <p:sp>
        <p:nvSpPr>
          <p:cNvPr id="31" name="Rectangle 30"/>
          <p:cNvSpPr/>
          <p:nvPr/>
        </p:nvSpPr>
        <p:spPr>
          <a:xfrm>
            <a:off x="502920" y="5166360"/>
            <a:ext cx="11155680" cy="105156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166360"/>
            <a:ext cx="109728" cy="105156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321808"/>
            <a:ext cx="10058400" cy="274320"/>
          </a:xfrm>
          <a:prstGeom prst="rect">
            <a:avLst/>
          </a:prstGeom>
          <a:noFill/>
        </p:spPr>
        <p:txBody>
          <a:bodyPr wrap="none">
            <a:spAutoFit/>
          </a:bodyPr>
          <a:lstStyle/>
          <a:p>
            <a:r>
              <a:rPr sz="1100" b="1" i="0">
                <a:solidFill>
                  <a:srgbClr val="F2AE26"/>
                </a:solidFill>
                <a:latin typeface="Inter"/>
                <a:ea typeface="Inter"/>
                <a:cs typeface="Inter"/>
              </a:rPr>
              <a:t>ONE CALL. ONE BLUEPRINT.</a:t>
            </a:r>
          </a:p>
        </p:txBody>
      </p:sp>
      <p:sp>
        <p:nvSpPr>
          <p:cNvPr id="34" name="TextBox 33"/>
          <p:cNvSpPr txBox="1"/>
          <p:nvPr/>
        </p:nvSpPr>
        <p:spPr>
          <a:xfrm>
            <a:off x="777240" y="5596128"/>
            <a:ext cx="5029200" cy="411480"/>
          </a:xfrm>
          <a:prstGeom prst="rect">
            <a:avLst/>
          </a:prstGeom>
          <a:noFill/>
        </p:spPr>
        <p:txBody>
          <a:bodyPr wrap="none">
            <a:spAutoFit/>
          </a:bodyPr>
          <a:lstStyle/>
          <a:p>
            <a:r>
              <a:rPr sz="2200" b="1" i="0">
                <a:solidFill>
                  <a:srgbClr val="FFFFFF"/>
                </a:solidFill>
                <a:latin typeface="Barlow Condensed"/>
                <a:ea typeface="Barlow Condensed"/>
                <a:cs typeface="Barlow Condensed"/>
              </a:rPr>
              <a:t>NOT SURE WHAT YOU NEED?</a:t>
            </a:r>
          </a:p>
        </p:txBody>
      </p:sp>
      <p:sp>
        <p:nvSpPr>
          <p:cNvPr id="35" name="TextBox 34"/>
          <p:cNvSpPr txBox="1"/>
          <p:nvPr/>
        </p:nvSpPr>
        <p:spPr>
          <a:xfrm>
            <a:off x="6217920" y="5440680"/>
            <a:ext cx="5029200" cy="502920"/>
          </a:xfrm>
          <a:prstGeom prst="rect">
            <a:avLst/>
          </a:prstGeom>
          <a:noFill/>
        </p:spPr>
        <p:txBody>
          <a:bodyPr wrap="none">
            <a:spAutoFit/>
          </a:bodyPr>
          <a:lstStyle/>
          <a:p>
            <a:r>
              <a:rPr sz="1200" b="0" i="0">
                <a:solidFill>
                  <a:srgbClr val="94A3B8"/>
                </a:solidFill>
                <a:latin typeface="Inter"/>
                <a:ea typeface="Inter"/>
                <a:cs typeface="Inter"/>
              </a:rPr>
              <a:t>That's what the discovery call is for. We'll map the right mix for your business.</a:t>
            </a:r>
          </a:p>
        </p:txBody>
      </p:sp>
      <p:sp>
        <p:nvSpPr>
          <p:cNvPr id="36" name="Rectangle 35"/>
          <p:cNvSpPr/>
          <p:nvPr/>
        </p:nvSpPr>
        <p:spPr>
          <a:xfrm>
            <a:off x="0" y="6510528"/>
            <a:ext cx="12191695" cy="347472"/>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547104"/>
            <a:ext cx="9144000" cy="256032"/>
          </a:xfrm>
          <a:prstGeom prst="rect">
            <a:avLst/>
          </a:prstGeom>
          <a:noFill/>
        </p:spPr>
        <p:txBody>
          <a:bodyPr wrap="none">
            <a:spAutoFit/>
          </a:bodyPr>
          <a:lstStyle/>
          <a:p>
            <a:r>
              <a:rPr sz="900" b="0" i="0">
                <a:solidFill>
                  <a:srgbClr val="64748B"/>
                </a:solidFill>
                <a:latin typeface="Inter"/>
                <a:ea typeface="Inter"/>
                <a:cs typeface="Inter"/>
              </a:rPr>
              <a:t>The Blue Collar Video Guys™  ·  bluecollarvideoguys.com</a:t>
            </a:r>
          </a:p>
        </p:txBody>
      </p:sp>
      <p:sp>
        <p:nvSpPr>
          <p:cNvPr id="38" name="TextBox 37"/>
          <p:cNvSpPr txBox="1"/>
          <p:nvPr/>
        </p:nvSpPr>
        <p:spPr>
          <a:xfrm>
            <a:off x="11368735" y="6547104"/>
            <a:ext cx="548640" cy="256032"/>
          </a:xfrm>
          <a:prstGeom prst="rect">
            <a:avLst/>
          </a:prstGeom>
          <a:noFill/>
        </p:spPr>
        <p:txBody>
          <a:bodyPr wrap="none">
            <a:spAutoFit/>
          </a:bodyPr>
          <a:lstStyle/>
          <a:p>
            <a:pPr algn="r"/>
            <a:r>
              <a:rPr sz="900" b="0" i="0">
                <a:solidFill>
                  <a:srgbClr val="BD7C00"/>
                </a:solidFill>
                <a:latin typeface="Inter"/>
                <a:ea typeface="Inter"/>
                <a:cs typeface="Inte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F2AE26"/>
                </a:solidFill>
                <a:latin typeface="Inter"/>
                <a:ea typeface="Inter"/>
                <a:cs typeface="Inter"/>
              </a:rPr>
              <a:t>THE BLUE COLLAR BLUEPRINT™</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4000" b="1" i="0">
                <a:solidFill>
                  <a:srgbClr val="FFFFFF"/>
                </a:solidFill>
                <a:latin typeface="Barlow Condensed"/>
                <a:ea typeface="Barlow Condensed"/>
                <a:cs typeface="Barlow Condensed"/>
              </a:rPr>
              <a:t>TRUST STRATEGY PACKAGES</a:t>
            </a:r>
          </a:p>
        </p:txBody>
      </p:sp>
      <p:sp>
        <p:nvSpPr>
          <p:cNvPr id="5" name="TextBox 4"/>
          <p:cNvSpPr txBox="1"/>
          <p:nvPr/>
        </p:nvSpPr>
        <p:spPr>
          <a:xfrm>
            <a:off x="685800" y="1417320"/>
            <a:ext cx="7315200" cy="365760"/>
          </a:xfrm>
          <a:prstGeom prst="rect">
            <a:avLst/>
          </a:prstGeom>
          <a:noFill/>
        </p:spPr>
        <p:txBody>
          <a:bodyPr wrap="square">
            <a:spAutoFit/>
          </a:bodyPr>
          <a:lstStyle/>
          <a:p>
            <a:r>
              <a:rPr sz="1400" b="0" i="0">
                <a:solidFill>
                  <a:srgbClr val="CBD5E1"/>
                </a:solidFill>
                <a:latin typeface="Inter"/>
                <a:ea typeface="Inter"/>
                <a:cs typeface="Inter"/>
              </a:rPr>
              <a:t>Built for blue collar businesses.</a:t>
            </a:r>
          </a:p>
        </p:txBody>
      </p:sp>
      <p:sp>
        <p:nvSpPr>
          <p:cNvPr id="6" name="Rectangle 5"/>
          <p:cNvSpPr/>
          <p:nvPr/>
        </p:nvSpPr>
        <p:spPr>
          <a:xfrm>
            <a:off x="502920" y="1874519"/>
            <a:ext cx="3611880" cy="416052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86000"/>
            <a:ext cx="3200400" cy="411480"/>
          </a:xfrm>
          <a:prstGeom prst="rect">
            <a:avLst/>
          </a:prstGeom>
          <a:noFill/>
        </p:spPr>
        <p:txBody>
          <a:bodyPr wrap="none">
            <a:spAutoFit/>
          </a:bodyPr>
          <a:lstStyle/>
          <a:p>
            <a:r>
              <a:rPr sz="2600" b="1" i="0">
                <a:solidFill>
                  <a:srgbClr val="FFFFFF"/>
                </a:solidFill>
                <a:latin typeface="Barlow Condensed"/>
                <a:ea typeface="Barlow Condensed"/>
                <a:cs typeface="Barlow Condensed"/>
              </a:rPr>
              <a:t>Foundation</a:t>
            </a:r>
          </a:p>
        </p:txBody>
      </p:sp>
      <p:sp>
        <p:nvSpPr>
          <p:cNvPr id="8" name="TextBox 7"/>
          <p:cNvSpPr txBox="1"/>
          <p:nvPr/>
        </p:nvSpPr>
        <p:spPr>
          <a:xfrm>
            <a:off x="685800" y="2743200"/>
            <a:ext cx="3200400" cy="274320"/>
          </a:xfrm>
          <a:prstGeom prst="rect">
            <a:avLst/>
          </a:prstGeom>
          <a:noFill/>
        </p:spPr>
        <p:txBody>
          <a:bodyPr wrap="none">
            <a:spAutoFit/>
          </a:bodyPr>
          <a:lstStyle/>
          <a:p>
            <a:r>
              <a:rPr sz="1100" b="1" i="0">
                <a:solidFill>
                  <a:srgbClr val="F2AE26"/>
                </a:solidFill>
                <a:latin typeface="Inter"/>
                <a:ea typeface="Inter"/>
                <a:cs typeface="Inter"/>
              </a:rPr>
              <a:t>3 Month</a:t>
            </a:r>
          </a:p>
        </p:txBody>
      </p:sp>
      <p:sp>
        <p:nvSpPr>
          <p:cNvPr id="9" name="TextBox 8"/>
          <p:cNvSpPr txBox="1"/>
          <p:nvPr/>
        </p:nvSpPr>
        <p:spPr>
          <a:xfrm>
            <a:off x="685800" y="3063240"/>
            <a:ext cx="3246120" cy="1371600"/>
          </a:xfrm>
          <a:prstGeom prst="rect">
            <a:avLst/>
          </a:prstGeom>
          <a:noFill/>
        </p:spPr>
        <p:txBody>
          <a:bodyPr wrap="square">
            <a:spAutoFit/>
          </a:bodyPr>
          <a:lstStyle/>
          <a:p>
            <a:pPr>
              <a:spcAft>
                <a:spcPts val="200"/>
              </a:spcAft>
            </a:pPr>
            <a:r>
              <a:rPr sz="900" b="0" i="0">
                <a:solidFill>
                  <a:srgbClr val="94A3B8"/>
                </a:solidFill>
                <a:latin typeface="Inter"/>
                <a:ea typeface="Inter"/>
                <a:cs typeface="Inter"/>
              </a:rPr>
              <a:t>• Trust Strategy</a:t>
            </a:r>
          </a:p>
          <a:p>
            <a:pPr>
              <a:spcAft>
                <a:spcPts val="200"/>
              </a:spcAft>
            </a:pPr>
            <a:r>
              <a:rPr sz="900" b="0" i="0">
                <a:solidFill>
                  <a:srgbClr val="94A3B8"/>
                </a:solidFill>
                <a:latin typeface="Inter"/>
                <a:ea typeface="Inter"/>
                <a:cs typeface="Inter"/>
              </a:rPr>
              <a:t>• Client Onboarding</a:t>
            </a:r>
          </a:p>
          <a:p>
            <a:pPr>
              <a:spcAft>
                <a:spcPts val="200"/>
              </a:spcAft>
            </a:pPr>
            <a:r>
              <a:rPr sz="900" b="0" i="0">
                <a:solidFill>
                  <a:srgbClr val="94A3B8"/>
                </a:solidFill>
                <a:latin typeface="Inter"/>
                <a:ea typeface="Inter"/>
                <a:cs typeface="Inter"/>
              </a:rPr>
              <a:t>• Pre-production planning</a:t>
            </a:r>
          </a:p>
          <a:p>
            <a:pPr>
              <a:spcAft>
                <a:spcPts val="200"/>
              </a:spcAft>
            </a:pPr>
            <a:r>
              <a:rPr sz="900" b="0" i="0">
                <a:solidFill>
                  <a:srgbClr val="94A3B8"/>
                </a:solidFill>
                <a:latin typeface="Inter"/>
                <a:ea typeface="Inter"/>
                <a:cs typeface="Inter"/>
              </a:rPr>
              <a:t>• 3 Strategy Sessions</a:t>
            </a:r>
          </a:p>
          <a:p>
            <a:pPr>
              <a:spcBef>
                <a:spcPts val="600"/>
              </a:spcBef>
            </a:pPr>
            <a:r>
              <a:rPr sz="800" b="1" i="0">
                <a:solidFill>
                  <a:srgbClr val="F2AE26"/>
                </a:solidFill>
                <a:latin typeface="Inter"/>
                <a:ea typeface="Inter"/>
                <a:cs typeface="Inter"/>
              </a:rPr>
              <a:t>PLUS</a:t>
            </a:r>
          </a:p>
          <a:p>
            <a:r>
              <a:rPr sz="900" b="0" i="0">
                <a:solidFill>
                  <a:srgbClr val="F5F5F2"/>
                </a:solidFill>
                <a:latin typeface="Inter"/>
                <a:ea typeface="Inter"/>
                <a:cs typeface="Inter"/>
              </a:rPr>
              <a:t>• 1 Brand Message Video</a:t>
            </a:r>
          </a:p>
          <a:p>
            <a:r>
              <a:rPr sz="900" b="0" i="0">
                <a:solidFill>
                  <a:srgbClr val="F5F5F2"/>
                </a:solidFill>
                <a:latin typeface="Inter"/>
                <a:ea typeface="Inter"/>
                <a:cs typeface="Inter"/>
              </a:rPr>
              <a:t>• 1 Promotional Video</a:t>
            </a:r>
          </a:p>
          <a:p>
            <a:r>
              <a:rPr sz="900" b="0" i="0">
                <a:solidFill>
                  <a:srgbClr val="F5F5F2"/>
                </a:solidFill>
                <a:latin typeface="Inter"/>
                <a:ea typeface="Inter"/>
                <a:cs typeface="Inter"/>
              </a:rPr>
              <a:t>• 3 Testimonial Videos</a:t>
            </a:r>
          </a:p>
        </p:txBody>
      </p:sp>
      <p:sp>
        <p:nvSpPr>
          <p:cNvPr id="10" name="Rectangle 9"/>
          <p:cNvSpPr/>
          <p:nvPr/>
        </p:nvSpPr>
        <p:spPr>
          <a:xfrm>
            <a:off x="4297680" y="1874519"/>
            <a:ext cx="3611880" cy="4160520"/>
          </a:xfrm>
          <a:prstGeom prst="rect">
            <a:avLst/>
          </a:prstGeom>
          <a:solidFill>
            <a:srgbClr val="162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011680"/>
            <a:ext cx="3200400" cy="228600"/>
          </a:xfrm>
          <a:prstGeom prst="rect">
            <a:avLst/>
          </a:prstGeom>
          <a:noFill/>
        </p:spPr>
        <p:txBody>
          <a:bodyPr wrap="none">
            <a:spAutoFit/>
          </a:bodyPr>
          <a:lstStyle/>
          <a:p>
            <a:r>
              <a:rPr sz="900" b="1" i="0">
                <a:solidFill>
                  <a:srgbClr val="F2AE26"/>
                </a:solidFill>
                <a:latin typeface="Inter"/>
                <a:ea typeface="Inter"/>
                <a:cs typeface="Inter"/>
              </a:rPr>
              <a:t>#BESTDEAL</a:t>
            </a:r>
          </a:p>
        </p:txBody>
      </p:sp>
      <p:sp>
        <p:nvSpPr>
          <p:cNvPr id="12" name="TextBox 11"/>
          <p:cNvSpPr txBox="1"/>
          <p:nvPr/>
        </p:nvSpPr>
        <p:spPr>
          <a:xfrm>
            <a:off x="4480560" y="2286000"/>
            <a:ext cx="3200400" cy="411480"/>
          </a:xfrm>
          <a:prstGeom prst="rect">
            <a:avLst/>
          </a:prstGeom>
          <a:noFill/>
        </p:spPr>
        <p:txBody>
          <a:bodyPr wrap="none">
            <a:spAutoFit/>
          </a:bodyPr>
          <a:lstStyle/>
          <a:p>
            <a:r>
              <a:rPr sz="2600" b="1" i="0">
                <a:solidFill>
                  <a:srgbClr val="FFFFFF"/>
                </a:solidFill>
                <a:latin typeface="Barlow Condensed"/>
                <a:ea typeface="Barlow Condensed"/>
                <a:cs typeface="Barlow Condensed"/>
              </a:rPr>
              <a:t>Structure</a:t>
            </a:r>
          </a:p>
        </p:txBody>
      </p:sp>
      <p:sp>
        <p:nvSpPr>
          <p:cNvPr id="13" name="TextBox 12"/>
          <p:cNvSpPr txBox="1"/>
          <p:nvPr/>
        </p:nvSpPr>
        <p:spPr>
          <a:xfrm>
            <a:off x="4480560" y="2743200"/>
            <a:ext cx="3200400" cy="274320"/>
          </a:xfrm>
          <a:prstGeom prst="rect">
            <a:avLst/>
          </a:prstGeom>
          <a:noFill/>
        </p:spPr>
        <p:txBody>
          <a:bodyPr wrap="none">
            <a:spAutoFit/>
          </a:bodyPr>
          <a:lstStyle/>
          <a:p>
            <a:r>
              <a:rPr sz="1100" b="1" i="0">
                <a:solidFill>
                  <a:srgbClr val="F2AE26"/>
                </a:solidFill>
                <a:latin typeface="Inter"/>
                <a:ea typeface="Inter"/>
                <a:cs typeface="Inter"/>
              </a:rPr>
              <a:t>6 Month</a:t>
            </a:r>
          </a:p>
        </p:txBody>
      </p:sp>
      <p:sp>
        <p:nvSpPr>
          <p:cNvPr id="14" name="TextBox 13"/>
          <p:cNvSpPr txBox="1"/>
          <p:nvPr/>
        </p:nvSpPr>
        <p:spPr>
          <a:xfrm>
            <a:off x="4480560" y="3063240"/>
            <a:ext cx="3246120" cy="1371600"/>
          </a:xfrm>
          <a:prstGeom prst="rect">
            <a:avLst/>
          </a:prstGeom>
          <a:noFill/>
        </p:spPr>
        <p:txBody>
          <a:bodyPr wrap="square">
            <a:spAutoFit/>
          </a:bodyPr>
          <a:lstStyle/>
          <a:p>
            <a:pPr>
              <a:spcAft>
                <a:spcPts val="200"/>
              </a:spcAft>
            </a:pPr>
            <a:r>
              <a:rPr sz="900" b="0" i="0">
                <a:solidFill>
                  <a:srgbClr val="94A3B8"/>
                </a:solidFill>
                <a:latin typeface="Inter"/>
                <a:ea typeface="Inter"/>
                <a:cs typeface="Inter"/>
              </a:rPr>
              <a:t>• 6 Strategy Sessions</a:t>
            </a:r>
          </a:p>
          <a:p>
            <a:pPr>
              <a:spcAft>
                <a:spcPts val="200"/>
              </a:spcAft>
            </a:pPr>
            <a:r>
              <a:rPr sz="900" b="0" i="0">
                <a:solidFill>
                  <a:srgbClr val="94A3B8"/>
                </a:solidFill>
                <a:latin typeface="Inter"/>
                <a:ea typeface="Inter"/>
                <a:cs typeface="Inter"/>
              </a:rPr>
              <a:t>• 1 Brand Message Video</a:t>
            </a:r>
          </a:p>
          <a:p>
            <a:pPr>
              <a:spcAft>
                <a:spcPts val="200"/>
              </a:spcAft>
            </a:pPr>
            <a:r>
              <a:rPr sz="900" b="0" i="0">
                <a:solidFill>
                  <a:srgbClr val="94A3B8"/>
                </a:solidFill>
                <a:latin typeface="Inter"/>
                <a:ea typeface="Inter"/>
                <a:cs typeface="Inter"/>
              </a:rPr>
              <a:t>• 2 Promotional Videos</a:t>
            </a:r>
          </a:p>
          <a:p>
            <a:pPr>
              <a:spcAft>
                <a:spcPts val="200"/>
              </a:spcAft>
            </a:pPr>
            <a:r>
              <a:rPr sz="900" b="0" i="0">
                <a:solidFill>
                  <a:srgbClr val="94A3B8"/>
                </a:solidFill>
                <a:latin typeface="Inter"/>
                <a:ea typeface="Inter"/>
                <a:cs typeface="Inter"/>
              </a:rPr>
              <a:t>• 4 Testimonial Videos</a:t>
            </a:r>
          </a:p>
          <a:p>
            <a:pPr>
              <a:spcAft>
                <a:spcPts val="200"/>
              </a:spcAft>
            </a:pPr>
            <a:r>
              <a:rPr sz="900" b="0" i="0">
                <a:solidFill>
                  <a:srgbClr val="94A3B8"/>
                </a:solidFill>
                <a:latin typeface="Inter"/>
                <a:ea typeface="Inter"/>
                <a:cs typeface="Inter"/>
              </a:rPr>
              <a:t>• 30 Branding Photos</a:t>
            </a:r>
          </a:p>
          <a:p>
            <a:pPr>
              <a:spcAft>
                <a:spcPts val="200"/>
              </a:spcAft>
            </a:pPr>
            <a:r>
              <a:rPr sz="900" b="0" i="0">
                <a:solidFill>
                  <a:srgbClr val="94A3B8"/>
                </a:solidFill>
                <a:latin typeface="Inter"/>
                <a:ea typeface="Inter"/>
                <a:cs typeface="Inter"/>
              </a:rPr>
              <a:t>• 30 Social Reels</a:t>
            </a:r>
          </a:p>
          <a:p>
            <a:pPr>
              <a:spcBef>
                <a:spcPts val="600"/>
              </a:spcBef>
            </a:pPr>
            <a:r>
              <a:rPr sz="800" b="1" i="0">
                <a:solidFill>
                  <a:srgbClr val="F2AE26"/>
                </a:solidFill>
                <a:latin typeface="Inter"/>
                <a:ea typeface="Inter"/>
                <a:cs typeface="Inter"/>
              </a:rPr>
              <a:t>PLUS</a:t>
            </a:r>
          </a:p>
          <a:p>
            <a:r>
              <a:rPr sz="900" b="0" i="0">
                <a:solidFill>
                  <a:srgbClr val="F5F5F2"/>
                </a:solidFill>
                <a:latin typeface="Inter"/>
                <a:ea typeface="Inter"/>
                <a:cs typeface="Inter"/>
              </a:rPr>
              <a:t>• 2 Sales Funnels</a:t>
            </a:r>
          </a:p>
          <a:p>
            <a:r>
              <a:rPr sz="900" b="0" i="0">
                <a:solidFill>
                  <a:srgbClr val="F5F5F2"/>
                </a:solidFill>
                <a:latin typeface="Inter"/>
                <a:ea typeface="Inter"/>
                <a:cs typeface="Inter"/>
              </a:rPr>
              <a:t>• Ad Management</a:t>
            </a:r>
          </a:p>
          <a:p>
            <a:r>
              <a:rPr sz="900" b="0" i="0">
                <a:solidFill>
                  <a:srgbClr val="F5F5F2"/>
                </a:solidFill>
                <a:latin typeface="Inter"/>
                <a:ea typeface="Inter"/>
                <a:cs typeface="Inter"/>
              </a:rPr>
              <a:t>• Ad Package (*$1,000 min ad spend required)</a:t>
            </a:r>
          </a:p>
        </p:txBody>
      </p:sp>
      <p:sp>
        <p:nvSpPr>
          <p:cNvPr id="15" name="Rectangle 14"/>
          <p:cNvSpPr/>
          <p:nvPr/>
        </p:nvSpPr>
        <p:spPr>
          <a:xfrm>
            <a:off x="8092440" y="1874519"/>
            <a:ext cx="3611880" cy="416052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286000"/>
            <a:ext cx="3200400" cy="411480"/>
          </a:xfrm>
          <a:prstGeom prst="rect">
            <a:avLst/>
          </a:prstGeom>
          <a:noFill/>
        </p:spPr>
        <p:txBody>
          <a:bodyPr wrap="none">
            <a:spAutoFit/>
          </a:bodyPr>
          <a:lstStyle/>
          <a:p>
            <a:r>
              <a:rPr sz="2600" b="1" i="0">
                <a:solidFill>
                  <a:srgbClr val="FFFFFF"/>
                </a:solidFill>
                <a:latin typeface="Barlow Condensed"/>
                <a:ea typeface="Barlow Condensed"/>
                <a:cs typeface="Barlow Condensed"/>
              </a:rPr>
              <a:t>Turnkey</a:t>
            </a:r>
          </a:p>
        </p:txBody>
      </p:sp>
      <p:sp>
        <p:nvSpPr>
          <p:cNvPr id="17" name="TextBox 16"/>
          <p:cNvSpPr txBox="1"/>
          <p:nvPr/>
        </p:nvSpPr>
        <p:spPr>
          <a:xfrm>
            <a:off x="8275320" y="2743200"/>
            <a:ext cx="3200400" cy="274320"/>
          </a:xfrm>
          <a:prstGeom prst="rect">
            <a:avLst/>
          </a:prstGeom>
          <a:noFill/>
        </p:spPr>
        <p:txBody>
          <a:bodyPr wrap="none">
            <a:spAutoFit/>
          </a:bodyPr>
          <a:lstStyle/>
          <a:p>
            <a:r>
              <a:rPr sz="1100" b="1" i="0">
                <a:solidFill>
                  <a:srgbClr val="F2AE26"/>
                </a:solidFill>
                <a:latin typeface="Inter"/>
                <a:ea typeface="Inter"/>
                <a:cs typeface="Inter"/>
              </a:rPr>
              <a:t>12 Month</a:t>
            </a:r>
          </a:p>
        </p:txBody>
      </p:sp>
      <p:sp>
        <p:nvSpPr>
          <p:cNvPr id="18" name="TextBox 17"/>
          <p:cNvSpPr txBox="1"/>
          <p:nvPr/>
        </p:nvSpPr>
        <p:spPr>
          <a:xfrm>
            <a:off x="8275320" y="3063240"/>
            <a:ext cx="3246120" cy="1371600"/>
          </a:xfrm>
          <a:prstGeom prst="rect">
            <a:avLst/>
          </a:prstGeom>
          <a:noFill/>
        </p:spPr>
        <p:txBody>
          <a:bodyPr wrap="square">
            <a:spAutoFit/>
          </a:bodyPr>
          <a:lstStyle/>
          <a:p>
            <a:pPr>
              <a:spcAft>
                <a:spcPts val="200"/>
              </a:spcAft>
            </a:pPr>
            <a:r>
              <a:rPr sz="900" b="0" i="0">
                <a:solidFill>
                  <a:srgbClr val="94A3B8"/>
                </a:solidFill>
                <a:latin typeface="Inter"/>
                <a:ea typeface="Inter"/>
                <a:cs typeface="Inter"/>
              </a:rPr>
              <a:t>• 12 Strategy Sessions</a:t>
            </a:r>
          </a:p>
          <a:p>
            <a:pPr>
              <a:spcAft>
                <a:spcPts val="200"/>
              </a:spcAft>
            </a:pPr>
            <a:r>
              <a:rPr sz="900" b="0" i="0">
                <a:solidFill>
                  <a:srgbClr val="94A3B8"/>
                </a:solidFill>
                <a:latin typeface="Inter"/>
                <a:ea typeface="Inter"/>
                <a:cs typeface="Inter"/>
              </a:rPr>
              <a:t>• 1 Brand Message Video</a:t>
            </a:r>
          </a:p>
          <a:p>
            <a:pPr>
              <a:spcAft>
                <a:spcPts val="200"/>
              </a:spcAft>
            </a:pPr>
            <a:r>
              <a:rPr sz="900" b="0" i="0">
                <a:solidFill>
                  <a:srgbClr val="94A3B8"/>
                </a:solidFill>
                <a:latin typeface="Inter"/>
                <a:ea typeface="Inter"/>
                <a:cs typeface="Inter"/>
              </a:rPr>
              <a:t>• 6 Promotional Videos</a:t>
            </a:r>
          </a:p>
          <a:p>
            <a:pPr>
              <a:spcAft>
                <a:spcPts val="200"/>
              </a:spcAft>
            </a:pPr>
            <a:r>
              <a:rPr sz="900" b="0" i="0">
                <a:solidFill>
                  <a:srgbClr val="94A3B8"/>
                </a:solidFill>
                <a:latin typeface="Inter"/>
                <a:ea typeface="Inter"/>
                <a:cs typeface="Inter"/>
              </a:rPr>
              <a:t>• 4 Testimonial Videos</a:t>
            </a:r>
          </a:p>
          <a:p>
            <a:pPr>
              <a:spcAft>
                <a:spcPts val="200"/>
              </a:spcAft>
            </a:pPr>
            <a:r>
              <a:rPr sz="900" b="0" i="0">
                <a:solidFill>
                  <a:srgbClr val="94A3B8"/>
                </a:solidFill>
                <a:latin typeface="Inter"/>
                <a:ea typeface="Inter"/>
                <a:cs typeface="Inter"/>
              </a:rPr>
              <a:t>• 3 Sales Funnels</a:t>
            </a:r>
          </a:p>
          <a:p>
            <a:pPr>
              <a:spcAft>
                <a:spcPts val="200"/>
              </a:spcAft>
            </a:pPr>
            <a:r>
              <a:rPr sz="900" b="0" i="0">
                <a:solidFill>
                  <a:srgbClr val="94A3B8"/>
                </a:solidFill>
                <a:latin typeface="Inter"/>
                <a:ea typeface="Inter"/>
                <a:cs typeface="Inter"/>
              </a:rPr>
              <a:t>• Ad Management</a:t>
            </a:r>
          </a:p>
          <a:p>
            <a:pPr>
              <a:spcBef>
                <a:spcPts val="600"/>
              </a:spcBef>
            </a:pPr>
            <a:r>
              <a:rPr sz="800" b="1" i="0">
                <a:solidFill>
                  <a:srgbClr val="F2AE26"/>
                </a:solidFill>
                <a:latin typeface="Inter"/>
                <a:ea typeface="Inter"/>
                <a:cs typeface="Inter"/>
              </a:rPr>
              <a:t>PLUS</a:t>
            </a:r>
          </a:p>
          <a:p>
            <a:r>
              <a:rPr sz="900" b="0" i="0">
                <a:solidFill>
                  <a:srgbClr val="F5F5F2"/>
                </a:solidFill>
                <a:latin typeface="Inter"/>
                <a:ea typeface="Inter"/>
                <a:cs typeface="Inter"/>
              </a:rPr>
              <a:t>• Website + Hosting</a:t>
            </a:r>
          </a:p>
          <a:p>
            <a:r>
              <a:rPr sz="900" b="0" i="0">
                <a:solidFill>
                  <a:srgbClr val="F5F5F2"/>
                </a:solidFill>
                <a:latin typeface="Inter"/>
                <a:ea typeface="Inter"/>
                <a:cs typeface="Inter"/>
              </a:rPr>
              <a:t>• CRM Setup/Support</a:t>
            </a:r>
          </a:p>
          <a:p>
            <a:r>
              <a:rPr sz="900" b="0" i="0">
                <a:solidFill>
                  <a:srgbClr val="F5F5F2"/>
                </a:solidFill>
                <a:latin typeface="Inter"/>
                <a:ea typeface="Inter"/>
                <a:cs typeface="Inter"/>
              </a:rPr>
              <a:t>• CRM Manager</a:t>
            </a:r>
          </a:p>
        </p:txBody>
      </p:sp>
      <p:sp>
        <p:nvSpPr>
          <p:cNvPr id="19" name="Rectangle 18"/>
          <p:cNvSpPr/>
          <p:nvPr/>
        </p:nvSpPr>
        <p:spPr>
          <a:xfrm>
            <a:off x="0" y="6510528"/>
            <a:ext cx="12191695" cy="347472"/>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47104"/>
            <a:ext cx="9144000" cy="256032"/>
          </a:xfrm>
          <a:prstGeom prst="rect">
            <a:avLst/>
          </a:prstGeom>
          <a:noFill/>
        </p:spPr>
        <p:txBody>
          <a:bodyPr wrap="none">
            <a:spAutoFit/>
          </a:bodyPr>
          <a:lstStyle/>
          <a:p>
            <a:r>
              <a:rPr sz="900" b="0" i="0">
                <a:solidFill>
                  <a:srgbClr val="94A3B8"/>
                </a:solidFill>
                <a:latin typeface="Inter"/>
                <a:ea typeface="Inter"/>
                <a:cs typeface="Inter"/>
              </a:rPr>
              <a:t>The Blue Collar Video Guys™  ·  bluecollarvideoguys.com</a:t>
            </a:r>
          </a:p>
        </p:txBody>
      </p:sp>
      <p:sp>
        <p:nvSpPr>
          <p:cNvPr id="21" name="TextBox 20"/>
          <p:cNvSpPr txBox="1"/>
          <p:nvPr/>
        </p:nvSpPr>
        <p:spPr>
          <a:xfrm>
            <a:off x="11368735" y="6547104"/>
            <a:ext cx="548640" cy="256032"/>
          </a:xfrm>
          <a:prstGeom prst="rect">
            <a:avLst/>
          </a:prstGeom>
          <a:noFill/>
        </p:spPr>
        <p:txBody>
          <a:bodyPr wrap="none">
            <a:spAutoFit/>
          </a:bodyPr>
          <a:lstStyle/>
          <a:p>
            <a:pPr algn="r"/>
            <a:r>
              <a:rPr sz="900" b="0" i="0">
                <a:solidFill>
                  <a:srgbClr val="F2AE26"/>
                </a:solidFill>
                <a:latin typeface="Inter"/>
                <a:ea typeface="Inter"/>
                <a:cs typeface="Inte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F2AE26"/>
                </a:solidFill>
                <a:latin typeface="Inter"/>
                <a:ea typeface="Inter"/>
                <a:cs typeface="Inter"/>
              </a:rPr>
              <a:t>VIDEO TRIFECTA</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4200" b="1" i="0">
                <a:solidFill>
                  <a:srgbClr val="FFFFFF"/>
                </a:solidFill>
                <a:latin typeface="Barlow Condensed"/>
                <a:ea typeface="Barlow Condensed"/>
                <a:cs typeface="Barlow Condensed"/>
              </a:rPr>
              <a:t>VIDEO THAT EARNS TRUST.</a:t>
            </a:r>
          </a:p>
        </p:txBody>
      </p:sp>
      <p:sp>
        <p:nvSpPr>
          <p:cNvPr id="5" name="TextBox 4"/>
          <p:cNvSpPr txBox="1"/>
          <p:nvPr/>
        </p:nvSpPr>
        <p:spPr>
          <a:xfrm>
            <a:off x="685800" y="1508760"/>
            <a:ext cx="9144000" cy="640080"/>
          </a:xfrm>
          <a:prstGeom prst="rect">
            <a:avLst/>
          </a:prstGeom>
          <a:noFill/>
        </p:spPr>
        <p:txBody>
          <a:bodyPr wrap="square">
            <a:spAutoFit/>
          </a:bodyPr>
          <a:lstStyle/>
          <a:p>
            <a:r>
              <a:rPr sz="1400" b="0" i="0">
                <a:solidFill>
                  <a:srgbClr val="CBD5E1"/>
                </a:solidFill>
                <a:latin typeface="Inter"/>
                <a:ea typeface="Inter"/>
                <a:cs typeface="Inter"/>
              </a:rPr>
              <a:t>Brand video, promo video, and client testimonial. Together they earn trust before the phone rings, so buyers already believe you when they call.</a:t>
            </a:r>
          </a:p>
        </p:txBody>
      </p:sp>
      <p:sp>
        <p:nvSpPr>
          <p:cNvPr id="6" name="Rectangle 5"/>
          <p:cNvSpPr/>
          <p:nvPr/>
        </p:nvSpPr>
        <p:spPr>
          <a:xfrm>
            <a:off x="685800" y="2331720"/>
            <a:ext cx="10789920" cy="118872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331720"/>
            <a:ext cx="50800" cy="11887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68880"/>
            <a:ext cx="548640" cy="365760"/>
          </a:xfrm>
          <a:prstGeom prst="rect">
            <a:avLst/>
          </a:prstGeom>
          <a:noFill/>
        </p:spPr>
        <p:txBody>
          <a:bodyPr wrap="none">
            <a:spAutoFit/>
          </a:bodyPr>
          <a:lstStyle/>
          <a:p>
            <a:r>
              <a:rPr sz="2200" b="1" i="0">
                <a:solidFill>
                  <a:srgbClr val="F2AE26"/>
                </a:solidFill>
                <a:latin typeface="Barlow Condensed"/>
                <a:ea typeface="Barlow Condensed"/>
                <a:cs typeface="Barlow Condensed"/>
              </a:rPr>
              <a:t>01</a:t>
            </a:r>
          </a:p>
        </p:txBody>
      </p:sp>
      <p:sp>
        <p:nvSpPr>
          <p:cNvPr id="9" name="TextBox 8"/>
          <p:cNvSpPr txBox="1"/>
          <p:nvPr/>
        </p:nvSpPr>
        <p:spPr>
          <a:xfrm>
            <a:off x="960120" y="2788920"/>
            <a:ext cx="2286000" cy="228600"/>
          </a:xfrm>
          <a:prstGeom prst="rect">
            <a:avLst/>
          </a:prstGeom>
          <a:noFill/>
        </p:spPr>
        <p:txBody>
          <a:bodyPr wrap="none">
            <a:spAutoFit/>
          </a:bodyPr>
          <a:lstStyle/>
          <a:p>
            <a:r>
              <a:rPr sz="900" b="1" i="0">
                <a:solidFill>
                  <a:srgbClr val="F2AE26"/>
                </a:solidFill>
                <a:latin typeface="Inter"/>
                <a:ea typeface="Inter"/>
                <a:cs typeface="Inter"/>
              </a:rPr>
              <a:t>BRAND VIDEO</a:t>
            </a:r>
          </a:p>
        </p:txBody>
      </p:sp>
      <p:sp>
        <p:nvSpPr>
          <p:cNvPr id="10" name="TextBox 9"/>
          <p:cNvSpPr txBox="1"/>
          <p:nvPr/>
        </p:nvSpPr>
        <p:spPr>
          <a:xfrm>
            <a:off x="2560320" y="2468880"/>
            <a:ext cx="8686800" cy="320040"/>
          </a:xfrm>
          <a:prstGeom prst="rect">
            <a:avLst/>
          </a:prstGeom>
          <a:noFill/>
        </p:spPr>
        <p:txBody>
          <a:bodyPr wrap="none">
            <a:spAutoFit/>
          </a:bodyPr>
          <a:lstStyle/>
          <a:p>
            <a:r>
              <a:rPr sz="1800" b="1" i="0">
                <a:solidFill>
                  <a:srgbClr val="FFFFFF"/>
                </a:solidFill>
                <a:latin typeface="Barlow Condensed"/>
                <a:ea typeface="Barlow Condensed"/>
                <a:cs typeface="Barlow Condensed"/>
              </a:rPr>
              <a:t>Your reputation, on film.</a:t>
            </a:r>
          </a:p>
        </p:txBody>
      </p:sp>
      <p:sp>
        <p:nvSpPr>
          <p:cNvPr id="11" name="TextBox 10"/>
          <p:cNvSpPr txBox="1"/>
          <p:nvPr/>
        </p:nvSpPr>
        <p:spPr>
          <a:xfrm>
            <a:off x="2560320" y="2834640"/>
            <a:ext cx="8686800" cy="594360"/>
          </a:xfrm>
          <a:prstGeom prst="rect">
            <a:avLst/>
          </a:prstGeom>
          <a:noFill/>
        </p:spPr>
        <p:txBody>
          <a:bodyPr wrap="square">
            <a:spAutoFit/>
          </a:bodyPr>
          <a:lstStyle/>
          <a:p>
            <a:r>
              <a:rPr sz="1100" b="0" i="0">
                <a:solidFill>
                  <a:srgbClr val="94A3B8"/>
                </a:solidFill>
                <a:latin typeface="Inter"/>
                <a:ea typeface="Inter"/>
                <a:cs typeface="Inter"/>
              </a:rPr>
              <a:t>A cinematic brand film with founder and crew on camera, real job-site footage, and a clear through-line about how the company works and what clients can count on.</a:t>
            </a:r>
          </a:p>
        </p:txBody>
      </p:sp>
      <p:sp>
        <p:nvSpPr>
          <p:cNvPr id="12" name="Rectangle 11"/>
          <p:cNvSpPr/>
          <p:nvPr/>
        </p:nvSpPr>
        <p:spPr>
          <a:xfrm>
            <a:off x="685800" y="3657600"/>
            <a:ext cx="10789920" cy="118872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657600"/>
            <a:ext cx="50800" cy="11887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794760"/>
            <a:ext cx="548640" cy="365760"/>
          </a:xfrm>
          <a:prstGeom prst="rect">
            <a:avLst/>
          </a:prstGeom>
          <a:noFill/>
        </p:spPr>
        <p:txBody>
          <a:bodyPr wrap="none">
            <a:spAutoFit/>
          </a:bodyPr>
          <a:lstStyle/>
          <a:p>
            <a:r>
              <a:rPr sz="2200" b="1" i="0">
                <a:solidFill>
                  <a:srgbClr val="F2AE26"/>
                </a:solidFill>
                <a:latin typeface="Barlow Condensed"/>
                <a:ea typeface="Barlow Condensed"/>
                <a:cs typeface="Barlow Condensed"/>
              </a:rPr>
              <a:t>02</a:t>
            </a:r>
          </a:p>
        </p:txBody>
      </p:sp>
      <p:sp>
        <p:nvSpPr>
          <p:cNvPr id="15" name="TextBox 14"/>
          <p:cNvSpPr txBox="1"/>
          <p:nvPr/>
        </p:nvSpPr>
        <p:spPr>
          <a:xfrm>
            <a:off x="960120" y="4114800"/>
            <a:ext cx="2286000" cy="228600"/>
          </a:xfrm>
          <a:prstGeom prst="rect">
            <a:avLst/>
          </a:prstGeom>
          <a:noFill/>
        </p:spPr>
        <p:txBody>
          <a:bodyPr wrap="none">
            <a:spAutoFit/>
          </a:bodyPr>
          <a:lstStyle/>
          <a:p>
            <a:r>
              <a:rPr sz="900" b="1" i="0">
                <a:solidFill>
                  <a:srgbClr val="F2AE26"/>
                </a:solidFill>
                <a:latin typeface="Inter"/>
                <a:ea typeface="Inter"/>
                <a:cs typeface="Inter"/>
              </a:rPr>
              <a:t>PROMO VIDEO</a:t>
            </a:r>
          </a:p>
        </p:txBody>
      </p:sp>
      <p:sp>
        <p:nvSpPr>
          <p:cNvPr id="16" name="TextBox 15"/>
          <p:cNvSpPr txBox="1"/>
          <p:nvPr/>
        </p:nvSpPr>
        <p:spPr>
          <a:xfrm>
            <a:off x="2560320" y="3794760"/>
            <a:ext cx="8686800" cy="320040"/>
          </a:xfrm>
          <a:prstGeom prst="rect">
            <a:avLst/>
          </a:prstGeom>
          <a:noFill/>
        </p:spPr>
        <p:txBody>
          <a:bodyPr wrap="none">
            <a:spAutoFit/>
          </a:bodyPr>
          <a:lstStyle/>
          <a:p>
            <a:r>
              <a:rPr sz="1800" b="1" i="0">
                <a:solidFill>
                  <a:srgbClr val="FFFFFF"/>
                </a:solidFill>
                <a:latin typeface="Barlow Condensed"/>
                <a:ea typeface="Barlow Condensed"/>
                <a:cs typeface="Barlow Condensed"/>
              </a:rPr>
              <a:t>One offer that actually converts.</a:t>
            </a:r>
          </a:p>
        </p:txBody>
      </p:sp>
      <p:sp>
        <p:nvSpPr>
          <p:cNvPr id="17" name="TextBox 16"/>
          <p:cNvSpPr txBox="1"/>
          <p:nvPr/>
        </p:nvSpPr>
        <p:spPr>
          <a:xfrm>
            <a:off x="2560320" y="4160520"/>
            <a:ext cx="8686800" cy="594360"/>
          </a:xfrm>
          <a:prstGeom prst="rect">
            <a:avLst/>
          </a:prstGeom>
          <a:noFill/>
        </p:spPr>
        <p:txBody>
          <a:bodyPr wrap="square">
            <a:spAutoFit/>
          </a:bodyPr>
          <a:lstStyle/>
          <a:p>
            <a:r>
              <a:rPr sz="1100" b="0" i="0">
                <a:solidFill>
                  <a:srgbClr val="94A3B8"/>
                </a:solidFill>
                <a:latin typeface="Inter"/>
                <a:ea typeface="Inter"/>
                <a:cs typeface="Inter"/>
              </a:rPr>
              <a:t>A sharp promo cut focused on a single offer or project type. Problem, process, and payoff, sized for ads, landing pages, and social.</a:t>
            </a:r>
          </a:p>
        </p:txBody>
      </p:sp>
      <p:sp>
        <p:nvSpPr>
          <p:cNvPr id="18" name="Rectangle 17"/>
          <p:cNvSpPr/>
          <p:nvPr/>
        </p:nvSpPr>
        <p:spPr>
          <a:xfrm>
            <a:off x="685800" y="4983480"/>
            <a:ext cx="10789920" cy="118872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983480"/>
            <a:ext cx="50800" cy="118872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120640"/>
            <a:ext cx="548640" cy="365760"/>
          </a:xfrm>
          <a:prstGeom prst="rect">
            <a:avLst/>
          </a:prstGeom>
          <a:noFill/>
        </p:spPr>
        <p:txBody>
          <a:bodyPr wrap="none">
            <a:spAutoFit/>
          </a:bodyPr>
          <a:lstStyle/>
          <a:p>
            <a:r>
              <a:rPr sz="2200" b="1" i="0">
                <a:solidFill>
                  <a:srgbClr val="F2AE26"/>
                </a:solidFill>
                <a:latin typeface="Barlow Condensed"/>
                <a:ea typeface="Barlow Condensed"/>
                <a:cs typeface="Barlow Condensed"/>
              </a:rPr>
              <a:t>03</a:t>
            </a:r>
          </a:p>
        </p:txBody>
      </p:sp>
      <p:sp>
        <p:nvSpPr>
          <p:cNvPr id="21" name="TextBox 20"/>
          <p:cNvSpPr txBox="1"/>
          <p:nvPr/>
        </p:nvSpPr>
        <p:spPr>
          <a:xfrm>
            <a:off x="960120" y="5440680"/>
            <a:ext cx="2286000" cy="228600"/>
          </a:xfrm>
          <a:prstGeom prst="rect">
            <a:avLst/>
          </a:prstGeom>
          <a:noFill/>
        </p:spPr>
        <p:txBody>
          <a:bodyPr wrap="none">
            <a:spAutoFit/>
          </a:bodyPr>
          <a:lstStyle/>
          <a:p>
            <a:r>
              <a:rPr sz="900" b="1" i="0">
                <a:solidFill>
                  <a:srgbClr val="F2AE26"/>
                </a:solidFill>
                <a:latin typeface="Inter"/>
                <a:ea typeface="Inter"/>
                <a:cs typeface="Inter"/>
              </a:rPr>
              <a:t>CLIENT TESTIMONIAL</a:t>
            </a:r>
          </a:p>
        </p:txBody>
      </p:sp>
      <p:sp>
        <p:nvSpPr>
          <p:cNvPr id="22" name="TextBox 21"/>
          <p:cNvSpPr txBox="1"/>
          <p:nvPr/>
        </p:nvSpPr>
        <p:spPr>
          <a:xfrm>
            <a:off x="2560320" y="5120640"/>
            <a:ext cx="8686800" cy="320040"/>
          </a:xfrm>
          <a:prstGeom prst="rect">
            <a:avLst/>
          </a:prstGeom>
          <a:noFill/>
        </p:spPr>
        <p:txBody>
          <a:bodyPr wrap="none">
            <a:spAutoFit/>
          </a:bodyPr>
          <a:lstStyle/>
          <a:p>
            <a:r>
              <a:rPr sz="1800" b="1" i="0">
                <a:solidFill>
                  <a:srgbClr val="FFFFFF"/>
                </a:solidFill>
                <a:latin typeface="Barlow Condensed"/>
                <a:ea typeface="Barlow Condensed"/>
                <a:cs typeface="Barlow Condensed"/>
              </a:rPr>
              <a:t>Proof from someone who already hired you.</a:t>
            </a:r>
          </a:p>
        </p:txBody>
      </p:sp>
      <p:sp>
        <p:nvSpPr>
          <p:cNvPr id="23" name="TextBox 22"/>
          <p:cNvSpPr txBox="1"/>
          <p:nvPr/>
        </p:nvSpPr>
        <p:spPr>
          <a:xfrm>
            <a:off x="2560320" y="5486400"/>
            <a:ext cx="8686800" cy="594360"/>
          </a:xfrm>
          <a:prstGeom prst="rect">
            <a:avLst/>
          </a:prstGeom>
          <a:noFill/>
        </p:spPr>
        <p:txBody>
          <a:bodyPr wrap="square">
            <a:spAutoFit/>
          </a:bodyPr>
          <a:lstStyle/>
          <a:p>
            <a:r>
              <a:rPr sz="1100" b="0" i="0">
                <a:solidFill>
                  <a:srgbClr val="94A3B8"/>
                </a:solidFill>
                <a:latin typeface="Inter"/>
                <a:ea typeface="Inter"/>
                <a:cs typeface="Inter"/>
              </a:rPr>
              <a:t>A client testimonial film with a real customer, a real project, and an honest look at the experience from first call to final walkthrough.</a:t>
            </a:r>
          </a:p>
        </p:txBody>
      </p:sp>
      <p:sp>
        <p:nvSpPr>
          <p:cNvPr id="24" name="Rectangle 23"/>
          <p:cNvSpPr/>
          <p:nvPr/>
        </p:nvSpPr>
        <p:spPr>
          <a:xfrm>
            <a:off x="0" y="6510528"/>
            <a:ext cx="12191695" cy="347472"/>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47104"/>
            <a:ext cx="9144000" cy="256032"/>
          </a:xfrm>
          <a:prstGeom prst="rect">
            <a:avLst/>
          </a:prstGeom>
          <a:noFill/>
        </p:spPr>
        <p:txBody>
          <a:bodyPr wrap="none">
            <a:spAutoFit/>
          </a:bodyPr>
          <a:lstStyle/>
          <a:p>
            <a:r>
              <a:rPr sz="900" b="0" i="0">
                <a:solidFill>
                  <a:srgbClr val="94A3B8"/>
                </a:solidFill>
                <a:latin typeface="Inter"/>
                <a:ea typeface="Inter"/>
                <a:cs typeface="Inter"/>
              </a:rPr>
              <a:t>The Blue Collar Video Guys™  ·  bluecollarvideoguys.com</a:t>
            </a:r>
          </a:p>
        </p:txBody>
      </p:sp>
      <p:sp>
        <p:nvSpPr>
          <p:cNvPr id="26" name="TextBox 25"/>
          <p:cNvSpPr txBox="1"/>
          <p:nvPr/>
        </p:nvSpPr>
        <p:spPr>
          <a:xfrm>
            <a:off x="11368735" y="6547104"/>
            <a:ext cx="548640" cy="256032"/>
          </a:xfrm>
          <a:prstGeom prst="rect">
            <a:avLst/>
          </a:prstGeom>
          <a:noFill/>
        </p:spPr>
        <p:txBody>
          <a:bodyPr wrap="none">
            <a:spAutoFit/>
          </a:bodyPr>
          <a:lstStyle/>
          <a:p>
            <a:pPr algn="r"/>
            <a:r>
              <a:rPr sz="900" b="0" i="0">
                <a:solidFill>
                  <a:srgbClr val="F2AE26"/>
                </a:solidFill>
                <a:latin typeface="Inter"/>
                <a:ea typeface="Inter"/>
                <a:cs typeface="Inte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F2AE26"/>
                </a:solidFill>
                <a:latin typeface="Inter"/>
                <a:ea typeface="Inter"/>
                <a:cs typeface="Inter"/>
              </a:rPr>
              <a:t>CLEAR ADVANTAGE</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3800" b="1" i="0">
                <a:solidFill>
                  <a:srgbClr val="FFFFFF"/>
                </a:solidFill>
                <a:latin typeface="Barlow Condensed"/>
                <a:ea typeface="Barlow Condensed"/>
                <a:cs typeface="Barlow Condensed"/>
              </a:rPr>
              <a:t>WE DON'T SELL VIDEOS.</a:t>
            </a:r>
          </a:p>
          <a:p>
            <a:pPr>
              <a:spcAft>
                <a:spcPts val="200"/>
              </a:spcAft>
            </a:pPr>
            <a:r>
              <a:rPr sz="3800" b="1" i="0">
                <a:solidFill>
                  <a:srgbClr val="FFFFFF"/>
                </a:solidFill>
                <a:latin typeface="Barlow Condensed"/>
                <a:ea typeface="Barlow Condensed"/>
                <a:cs typeface="Barlow Condensed"/>
              </a:rPr>
              <a:t>WE BUILD TRUST.</a:t>
            </a:r>
          </a:p>
        </p:txBody>
      </p:sp>
      <p:sp>
        <p:nvSpPr>
          <p:cNvPr id="5" name="Rectangle 4"/>
          <p:cNvSpPr/>
          <p:nvPr/>
        </p:nvSpPr>
        <p:spPr>
          <a:xfrm>
            <a:off x="685800" y="1965960"/>
            <a:ext cx="1078992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0" y="2240280"/>
            <a:ext cx="12700" cy="1417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3749040"/>
            <a:ext cx="52120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31720"/>
            <a:ext cx="4937760" cy="365760"/>
          </a:xfrm>
          <a:prstGeom prst="rect">
            <a:avLst/>
          </a:prstGeom>
          <a:noFill/>
        </p:spPr>
        <p:txBody>
          <a:bodyPr wrap="none">
            <a:spAutoFit/>
          </a:bodyPr>
          <a:lstStyle/>
          <a:p>
            <a:r>
              <a:rPr sz="1800" b="1" i="0">
                <a:solidFill>
                  <a:srgbClr val="FFFFFF"/>
                </a:solidFill>
                <a:latin typeface="Barlow Condensed"/>
                <a:ea typeface="Barlow Condensed"/>
                <a:cs typeface="Barlow Condensed"/>
              </a:rPr>
              <a:t>Most agencies sell attention</a:t>
            </a:r>
          </a:p>
        </p:txBody>
      </p:sp>
      <p:sp>
        <p:nvSpPr>
          <p:cNvPr id="9" name="TextBox 8"/>
          <p:cNvSpPr txBox="1"/>
          <p:nvPr/>
        </p:nvSpPr>
        <p:spPr>
          <a:xfrm>
            <a:off x="685800" y="2743200"/>
            <a:ext cx="4937760" cy="822960"/>
          </a:xfrm>
          <a:prstGeom prst="rect">
            <a:avLst/>
          </a:prstGeom>
          <a:noFill/>
        </p:spPr>
        <p:txBody>
          <a:bodyPr wrap="square">
            <a:spAutoFit/>
          </a:bodyPr>
          <a:lstStyle/>
          <a:p>
            <a:r>
              <a:rPr sz="1200" b="0" i="0">
                <a:solidFill>
                  <a:srgbClr val="94A3B8"/>
                </a:solidFill>
                <a:latin typeface="Inter"/>
                <a:ea typeface="Inter"/>
                <a:cs typeface="Inter"/>
              </a:rPr>
              <a:t>We build trust: content that earns confidence before anyone picks up the phone.</a:t>
            </a:r>
          </a:p>
        </p:txBody>
      </p:sp>
      <p:sp>
        <p:nvSpPr>
          <p:cNvPr id="10" name="Rectangle 9"/>
          <p:cNvSpPr/>
          <p:nvPr/>
        </p:nvSpPr>
        <p:spPr>
          <a:xfrm>
            <a:off x="6172200" y="3749040"/>
            <a:ext cx="52120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331720"/>
            <a:ext cx="4937760" cy="365760"/>
          </a:xfrm>
          <a:prstGeom prst="rect">
            <a:avLst/>
          </a:prstGeom>
          <a:noFill/>
        </p:spPr>
        <p:txBody>
          <a:bodyPr wrap="none">
            <a:spAutoFit/>
          </a:bodyPr>
          <a:lstStyle/>
          <a:p>
            <a:r>
              <a:rPr sz="1800" b="1" i="0">
                <a:solidFill>
                  <a:srgbClr val="FFFFFF"/>
                </a:solidFill>
                <a:latin typeface="Barlow Condensed"/>
                <a:ea typeface="Barlow Condensed"/>
                <a:cs typeface="Barlow Condensed"/>
              </a:rPr>
              <a:t>Most video shops sell footage</a:t>
            </a:r>
          </a:p>
        </p:txBody>
      </p:sp>
      <p:sp>
        <p:nvSpPr>
          <p:cNvPr id="12" name="TextBox 11"/>
          <p:cNvSpPr txBox="1"/>
          <p:nvPr/>
        </p:nvSpPr>
        <p:spPr>
          <a:xfrm>
            <a:off x="6172200" y="2743200"/>
            <a:ext cx="4937760" cy="822960"/>
          </a:xfrm>
          <a:prstGeom prst="rect">
            <a:avLst/>
          </a:prstGeom>
          <a:noFill/>
        </p:spPr>
        <p:txBody>
          <a:bodyPr wrap="square">
            <a:spAutoFit/>
          </a:bodyPr>
          <a:lstStyle/>
          <a:p>
            <a:r>
              <a:rPr sz="1200" b="0" i="0">
                <a:solidFill>
                  <a:srgbClr val="94A3B8"/>
                </a:solidFill>
                <a:latin typeface="Inter"/>
                <a:ea typeface="Inter"/>
                <a:cs typeface="Inter"/>
              </a:rPr>
              <a:t>We create business growth. Every piece is built to move you through the Blueprint.</a:t>
            </a:r>
          </a:p>
        </p:txBody>
      </p:sp>
      <p:sp>
        <p:nvSpPr>
          <p:cNvPr id="13" name="Rectangle 12"/>
          <p:cNvSpPr/>
          <p:nvPr/>
        </p:nvSpPr>
        <p:spPr>
          <a:xfrm>
            <a:off x="6035040" y="3931920"/>
            <a:ext cx="12700" cy="1417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23360"/>
            <a:ext cx="4937760" cy="365760"/>
          </a:xfrm>
          <a:prstGeom prst="rect">
            <a:avLst/>
          </a:prstGeom>
          <a:noFill/>
        </p:spPr>
        <p:txBody>
          <a:bodyPr wrap="none">
            <a:spAutoFit/>
          </a:bodyPr>
          <a:lstStyle/>
          <a:p>
            <a:r>
              <a:rPr sz="1800" b="1" i="0">
                <a:solidFill>
                  <a:srgbClr val="FFFFFF"/>
                </a:solidFill>
                <a:latin typeface="Barlow Condensed"/>
                <a:ea typeface="Barlow Condensed"/>
                <a:cs typeface="Barlow Condensed"/>
              </a:rPr>
              <a:t>Built for established shops</a:t>
            </a:r>
          </a:p>
        </p:txBody>
      </p:sp>
      <p:sp>
        <p:nvSpPr>
          <p:cNvPr id="15" name="TextBox 14"/>
          <p:cNvSpPr txBox="1"/>
          <p:nvPr/>
        </p:nvSpPr>
        <p:spPr>
          <a:xfrm>
            <a:off x="685800" y="4434840"/>
            <a:ext cx="4937760" cy="822960"/>
          </a:xfrm>
          <a:prstGeom prst="rect">
            <a:avLst/>
          </a:prstGeom>
          <a:noFill/>
        </p:spPr>
        <p:txBody>
          <a:bodyPr wrap="square">
            <a:spAutoFit/>
          </a:bodyPr>
          <a:lstStyle/>
          <a:p>
            <a:r>
              <a:rPr sz="1200" b="0" i="0">
                <a:solidFill>
                  <a:srgbClr val="94A3B8"/>
                </a:solidFill>
                <a:latin typeface="Inter"/>
                <a:ea typeface="Inter"/>
                <a:cs typeface="Inter"/>
              </a:rPr>
              <a:t>Quality work. Strong reputation. Marketing as an investment, not a miracle for startups with no track record.</a:t>
            </a:r>
          </a:p>
        </p:txBody>
      </p:sp>
      <p:sp>
        <p:nvSpPr>
          <p:cNvPr id="16" name="TextBox 15"/>
          <p:cNvSpPr txBox="1"/>
          <p:nvPr/>
        </p:nvSpPr>
        <p:spPr>
          <a:xfrm>
            <a:off x="6172200" y="4023360"/>
            <a:ext cx="4937760" cy="365760"/>
          </a:xfrm>
          <a:prstGeom prst="rect">
            <a:avLst/>
          </a:prstGeom>
          <a:noFill/>
        </p:spPr>
        <p:txBody>
          <a:bodyPr wrap="none">
            <a:spAutoFit/>
          </a:bodyPr>
          <a:lstStyle/>
          <a:p>
            <a:r>
              <a:rPr sz="1800" b="1" i="0">
                <a:solidFill>
                  <a:srgbClr val="FFFFFF"/>
                </a:solidFill>
                <a:latin typeface="Barlow Condensed"/>
                <a:ea typeface="Barlow Condensed"/>
                <a:cs typeface="Barlow Condensed"/>
              </a:rPr>
              <a:t>Strategic growth partner</a:t>
            </a:r>
          </a:p>
        </p:txBody>
      </p:sp>
      <p:sp>
        <p:nvSpPr>
          <p:cNvPr id="17" name="TextBox 16"/>
          <p:cNvSpPr txBox="1"/>
          <p:nvPr/>
        </p:nvSpPr>
        <p:spPr>
          <a:xfrm>
            <a:off x="6172200" y="4434840"/>
            <a:ext cx="4937760" cy="822960"/>
          </a:xfrm>
          <a:prstGeom prst="rect">
            <a:avLst/>
          </a:prstGeom>
          <a:noFill/>
        </p:spPr>
        <p:txBody>
          <a:bodyPr wrap="square">
            <a:spAutoFit/>
          </a:bodyPr>
          <a:lstStyle/>
          <a:p>
            <a:r>
              <a:rPr sz="1200" b="0" i="0">
                <a:solidFill>
                  <a:srgbClr val="94A3B8"/>
                </a:solidFill>
                <a:latin typeface="Inter"/>
                <a:ea typeface="Inter"/>
                <a:cs typeface="Inter"/>
              </a:rPr>
              <a:t>We don't chase trends. We tell authentic stories, because stories create trust, and trust wins jobs.</a:t>
            </a:r>
          </a:p>
        </p:txBody>
      </p:sp>
      <p:sp>
        <p:nvSpPr>
          <p:cNvPr id="18" name="Rectangle 17"/>
          <p:cNvSpPr/>
          <p:nvPr/>
        </p:nvSpPr>
        <p:spPr>
          <a:xfrm>
            <a:off x="0" y="6510528"/>
            <a:ext cx="12191695" cy="347472"/>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9144000" cy="256032"/>
          </a:xfrm>
          <a:prstGeom prst="rect">
            <a:avLst/>
          </a:prstGeom>
          <a:noFill/>
        </p:spPr>
        <p:txBody>
          <a:bodyPr wrap="none">
            <a:spAutoFit/>
          </a:bodyPr>
          <a:lstStyle/>
          <a:p>
            <a:r>
              <a:rPr sz="900" b="0" i="0">
                <a:solidFill>
                  <a:srgbClr val="94A3B8"/>
                </a:solidFill>
                <a:latin typeface="Inter"/>
                <a:ea typeface="Inter"/>
                <a:cs typeface="Inter"/>
              </a:rPr>
              <a:t>The Blue Collar Video Guys™  ·  bluecollarvideoguys.com</a:t>
            </a:r>
          </a:p>
        </p:txBody>
      </p:sp>
      <p:sp>
        <p:nvSpPr>
          <p:cNvPr id="20" name="TextBox 19"/>
          <p:cNvSpPr txBox="1"/>
          <p:nvPr/>
        </p:nvSpPr>
        <p:spPr>
          <a:xfrm>
            <a:off x="11368735" y="6547104"/>
            <a:ext cx="548640" cy="256032"/>
          </a:xfrm>
          <a:prstGeom prst="rect">
            <a:avLst/>
          </a:prstGeom>
          <a:noFill/>
        </p:spPr>
        <p:txBody>
          <a:bodyPr wrap="none">
            <a:spAutoFit/>
          </a:bodyPr>
          <a:lstStyle/>
          <a:p>
            <a:pPr algn="r"/>
            <a:r>
              <a:rPr sz="900" b="0" i="0">
                <a:solidFill>
                  <a:srgbClr val="F2AE26"/>
                </a:solidFill>
                <a:latin typeface="Inter"/>
                <a:ea typeface="Inter"/>
                <a:cs typeface="Inte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BD7C00"/>
                </a:solidFill>
                <a:latin typeface="Inter"/>
                <a:ea typeface="Inter"/>
                <a:cs typeface="Inter"/>
              </a:rPr>
              <a:t>PROVEN RESULTS</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4000" b="1" i="0">
                <a:solidFill>
                  <a:srgbClr val="16202D"/>
                </a:solidFill>
                <a:latin typeface="Barlow Condensed"/>
                <a:ea typeface="Barlow Condensed"/>
                <a:cs typeface="Barlow Condensed"/>
              </a:rPr>
              <a:t>REAL JOBS. REAL PROOF.</a:t>
            </a:r>
          </a:p>
        </p:txBody>
      </p:sp>
      <p:sp>
        <p:nvSpPr>
          <p:cNvPr id="5" name="TextBox 4"/>
          <p:cNvSpPr txBox="1"/>
          <p:nvPr/>
        </p:nvSpPr>
        <p:spPr>
          <a:xfrm>
            <a:off x="685800" y="1417320"/>
            <a:ext cx="7315200" cy="274320"/>
          </a:xfrm>
          <a:prstGeom prst="rect">
            <a:avLst/>
          </a:prstGeom>
          <a:noFill/>
        </p:spPr>
        <p:txBody>
          <a:bodyPr wrap="none">
            <a:spAutoFit/>
          </a:bodyPr>
          <a:lstStyle/>
          <a:p>
            <a:r>
              <a:rPr sz="1100" b="1" i="0">
                <a:solidFill>
                  <a:srgbClr val="64748B"/>
                </a:solidFill>
                <a:latin typeface="Inter"/>
                <a:ea typeface="Inter"/>
                <a:cs typeface="Inter"/>
              </a:rPr>
              <a:t>CLIENT FILMS AND TESTIMONIALS</a:t>
            </a:r>
          </a:p>
        </p:txBody>
      </p:sp>
      <p:sp>
        <p:nvSpPr>
          <p:cNvPr id="6" name="Rectangle 5"/>
          <p:cNvSpPr/>
          <p:nvPr/>
        </p:nvSpPr>
        <p:spPr>
          <a:xfrm>
            <a:off x="685800" y="2011680"/>
            <a:ext cx="10789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11680"/>
            <a:ext cx="38100" cy="658368"/>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76272"/>
            <a:ext cx="2286000" cy="320040"/>
          </a:xfrm>
          <a:prstGeom prst="rect">
            <a:avLst/>
          </a:prstGeom>
          <a:noFill/>
        </p:spPr>
        <p:txBody>
          <a:bodyPr wrap="none">
            <a:spAutoFit/>
          </a:bodyPr>
          <a:lstStyle/>
          <a:p>
            <a:r>
              <a:rPr sz="1600" b="1" i="0">
                <a:solidFill>
                  <a:srgbClr val="16202D"/>
                </a:solidFill>
                <a:latin typeface="Barlow Condensed"/>
                <a:ea typeface="Barlow Condensed"/>
                <a:cs typeface="Barlow Condensed"/>
              </a:rPr>
              <a:t>Promo video</a:t>
            </a:r>
          </a:p>
        </p:txBody>
      </p:sp>
      <p:sp>
        <p:nvSpPr>
          <p:cNvPr id="9" name="TextBox 8"/>
          <p:cNvSpPr txBox="1"/>
          <p:nvPr/>
        </p:nvSpPr>
        <p:spPr>
          <a:xfrm>
            <a:off x="3429000" y="2176272"/>
            <a:ext cx="7589520" cy="320040"/>
          </a:xfrm>
          <a:prstGeom prst="rect">
            <a:avLst/>
          </a:prstGeom>
          <a:noFill/>
        </p:spPr>
        <p:txBody>
          <a:bodyPr wrap="none">
            <a:spAutoFit/>
          </a:bodyPr>
          <a:lstStyle/>
          <a:p>
            <a:r>
              <a:rPr sz="1200" b="0" i="0">
                <a:solidFill>
                  <a:srgbClr val="BD7C00"/>
                </a:solidFill>
                <a:latin typeface="Inter"/>
                <a:ea typeface="Inter"/>
                <a:cs typeface="Inter"/>
              </a:rPr>
              <a:t>youtube.com/watch?v=ss-3eS8oCTs</a:t>
            </a:r>
          </a:p>
        </p:txBody>
      </p:sp>
      <p:sp>
        <p:nvSpPr>
          <p:cNvPr id="10" name="Rectangle 9"/>
          <p:cNvSpPr/>
          <p:nvPr/>
        </p:nvSpPr>
        <p:spPr>
          <a:xfrm>
            <a:off x="685800" y="2788920"/>
            <a:ext cx="10789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788920"/>
            <a:ext cx="38100" cy="658368"/>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53512"/>
            <a:ext cx="2286000" cy="320040"/>
          </a:xfrm>
          <a:prstGeom prst="rect">
            <a:avLst/>
          </a:prstGeom>
          <a:noFill/>
        </p:spPr>
        <p:txBody>
          <a:bodyPr wrap="none">
            <a:spAutoFit/>
          </a:bodyPr>
          <a:lstStyle/>
          <a:p>
            <a:r>
              <a:rPr sz="1600" b="1" i="0">
                <a:solidFill>
                  <a:srgbClr val="16202D"/>
                </a:solidFill>
                <a:latin typeface="Barlow Condensed"/>
                <a:ea typeface="Barlow Condensed"/>
                <a:cs typeface="Barlow Condensed"/>
              </a:rPr>
              <a:t>Testimonial</a:t>
            </a:r>
          </a:p>
        </p:txBody>
      </p:sp>
      <p:sp>
        <p:nvSpPr>
          <p:cNvPr id="13" name="TextBox 12"/>
          <p:cNvSpPr txBox="1"/>
          <p:nvPr/>
        </p:nvSpPr>
        <p:spPr>
          <a:xfrm>
            <a:off x="3429000" y="2953512"/>
            <a:ext cx="7589520" cy="320040"/>
          </a:xfrm>
          <a:prstGeom prst="rect">
            <a:avLst/>
          </a:prstGeom>
          <a:noFill/>
        </p:spPr>
        <p:txBody>
          <a:bodyPr wrap="none">
            <a:spAutoFit/>
          </a:bodyPr>
          <a:lstStyle/>
          <a:p>
            <a:r>
              <a:rPr sz="1200" b="0" i="0">
                <a:solidFill>
                  <a:srgbClr val="BD7C00"/>
                </a:solidFill>
                <a:latin typeface="Inter"/>
                <a:ea typeface="Inter"/>
                <a:cs typeface="Inter"/>
              </a:rPr>
              <a:t>youtube.com/watch?v=jzdRmbzji-A</a:t>
            </a:r>
          </a:p>
        </p:txBody>
      </p:sp>
      <p:sp>
        <p:nvSpPr>
          <p:cNvPr id="14" name="Rectangle 13"/>
          <p:cNvSpPr/>
          <p:nvPr/>
        </p:nvSpPr>
        <p:spPr>
          <a:xfrm>
            <a:off x="685800" y="3566160"/>
            <a:ext cx="10789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66160"/>
            <a:ext cx="38100" cy="658368"/>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30752"/>
            <a:ext cx="2286000" cy="320040"/>
          </a:xfrm>
          <a:prstGeom prst="rect">
            <a:avLst/>
          </a:prstGeom>
          <a:noFill/>
        </p:spPr>
        <p:txBody>
          <a:bodyPr wrap="none">
            <a:spAutoFit/>
          </a:bodyPr>
          <a:lstStyle/>
          <a:p>
            <a:r>
              <a:rPr sz="1600" b="1" i="0">
                <a:solidFill>
                  <a:srgbClr val="16202D"/>
                </a:solidFill>
                <a:latin typeface="Barlow Condensed"/>
                <a:ea typeface="Barlow Condensed"/>
                <a:cs typeface="Barlow Condensed"/>
              </a:rPr>
              <a:t>Testimonials</a:t>
            </a:r>
          </a:p>
        </p:txBody>
      </p:sp>
      <p:sp>
        <p:nvSpPr>
          <p:cNvPr id="17" name="TextBox 16"/>
          <p:cNvSpPr txBox="1"/>
          <p:nvPr/>
        </p:nvSpPr>
        <p:spPr>
          <a:xfrm>
            <a:off x="3429000" y="3730752"/>
            <a:ext cx="7589520" cy="320040"/>
          </a:xfrm>
          <a:prstGeom prst="rect">
            <a:avLst/>
          </a:prstGeom>
          <a:noFill/>
        </p:spPr>
        <p:txBody>
          <a:bodyPr wrap="none">
            <a:spAutoFit/>
          </a:bodyPr>
          <a:lstStyle/>
          <a:p>
            <a:r>
              <a:rPr sz="1200" b="0" i="0">
                <a:solidFill>
                  <a:srgbClr val="BD7C00"/>
                </a:solidFill>
                <a:latin typeface="Inter"/>
                <a:ea typeface="Inter"/>
                <a:cs typeface="Inter"/>
              </a:rPr>
              <a:t>youtube.com/watch?v=emhLh58qP94</a:t>
            </a:r>
          </a:p>
        </p:txBody>
      </p:sp>
      <p:sp>
        <p:nvSpPr>
          <p:cNvPr id="18" name="Rectangle 17"/>
          <p:cNvSpPr/>
          <p:nvPr/>
        </p:nvSpPr>
        <p:spPr>
          <a:xfrm>
            <a:off x="685800" y="4343400"/>
            <a:ext cx="10789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343400"/>
            <a:ext cx="38100" cy="658368"/>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07992"/>
            <a:ext cx="2286000" cy="320040"/>
          </a:xfrm>
          <a:prstGeom prst="rect">
            <a:avLst/>
          </a:prstGeom>
          <a:noFill/>
        </p:spPr>
        <p:txBody>
          <a:bodyPr wrap="none">
            <a:spAutoFit/>
          </a:bodyPr>
          <a:lstStyle/>
          <a:p>
            <a:r>
              <a:rPr sz="1600" b="1" i="0">
                <a:solidFill>
                  <a:srgbClr val="16202D"/>
                </a:solidFill>
                <a:latin typeface="Barlow Condensed"/>
                <a:ea typeface="Barlow Condensed"/>
                <a:cs typeface="Barlow Condensed"/>
              </a:rPr>
              <a:t>Hero reel</a:t>
            </a:r>
          </a:p>
        </p:txBody>
      </p:sp>
      <p:sp>
        <p:nvSpPr>
          <p:cNvPr id="21" name="TextBox 20"/>
          <p:cNvSpPr txBox="1"/>
          <p:nvPr/>
        </p:nvSpPr>
        <p:spPr>
          <a:xfrm>
            <a:off x="3429000" y="4507992"/>
            <a:ext cx="7589520" cy="320040"/>
          </a:xfrm>
          <a:prstGeom prst="rect">
            <a:avLst/>
          </a:prstGeom>
          <a:noFill/>
        </p:spPr>
        <p:txBody>
          <a:bodyPr wrap="none">
            <a:spAutoFit/>
          </a:bodyPr>
          <a:lstStyle/>
          <a:p>
            <a:r>
              <a:rPr sz="1200" b="0" i="0">
                <a:solidFill>
                  <a:srgbClr val="BD7C00"/>
                </a:solidFill>
                <a:latin typeface="Inter"/>
                <a:ea typeface="Inter"/>
                <a:cs typeface="Inter"/>
              </a:rPr>
              <a:t>youtu.be/7gGRBMdAQ2k</a:t>
            </a:r>
          </a:p>
        </p:txBody>
      </p:sp>
      <p:sp>
        <p:nvSpPr>
          <p:cNvPr id="22" name="Rectangle 21"/>
          <p:cNvSpPr/>
          <p:nvPr/>
        </p:nvSpPr>
        <p:spPr>
          <a:xfrm>
            <a:off x="0" y="5349240"/>
            <a:ext cx="12191695" cy="50292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486400"/>
            <a:ext cx="11155680" cy="320040"/>
          </a:xfrm>
          <a:prstGeom prst="rect">
            <a:avLst/>
          </a:prstGeom>
          <a:noFill/>
        </p:spPr>
        <p:txBody>
          <a:bodyPr wrap="none">
            <a:spAutoFit/>
          </a:bodyPr>
          <a:lstStyle/>
          <a:p>
            <a:r>
              <a:rPr sz="900" b="1" i="0">
                <a:solidFill>
                  <a:srgbClr val="F2AE26"/>
                </a:solidFill>
                <a:latin typeface="Inter"/>
                <a:ea typeface="Inter"/>
                <a:cs typeface="Inter"/>
              </a:rPr>
              <a:t>ELECTRICIANS · PLUMBERS · HVAC · ROOFERS · PAINTERS · WELDERS · CONCRETE CREWS · MECHANICS · EXCAVATORS · CONTRACTORS · CARPENTERS · LANDSCAPERS · MASONS · DRYWALL · FLOORING · INSULATION</a:t>
            </a:r>
          </a:p>
        </p:txBody>
      </p:sp>
      <p:sp>
        <p:nvSpPr>
          <p:cNvPr id="24" name="Rectangle 23"/>
          <p:cNvSpPr/>
          <p:nvPr/>
        </p:nvSpPr>
        <p:spPr>
          <a:xfrm>
            <a:off x="0" y="6510528"/>
            <a:ext cx="12191695" cy="347472"/>
          </a:xfrm>
          <a:prstGeom prst="rect">
            <a:avLst/>
          </a:prstGeom>
          <a:solidFill>
            <a:srgbClr val="F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47104"/>
            <a:ext cx="9144000" cy="256032"/>
          </a:xfrm>
          <a:prstGeom prst="rect">
            <a:avLst/>
          </a:prstGeom>
          <a:noFill/>
        </p:spPr>
        <p:txBody>
          <a:bodyPr wrap="none">
            <a:spAutoFit/>
          </a:bodyPr>
          <a:lstStyle/>
          <a:p>
            <a:r>
              <a:rPr sz="900" b="0" i="0">
                <a:solidFill>
                  <a:srgbClr val="64748B"/>
                </a:solidFill>
                <a:latin typeface="Inter"/>
                <a:ea typeface="Inter"/>
                <a:cs typeface="Inter"/>
              </a:rPr>
              <a:t>The Blue Collar Video Guys™  ·  bluecollarvideoguys.com</a:t>
            </a:r>
          </a:p>
        </p:txBody>
      </p:sp>
      <p:sp>
        <p:nvSpPr>
          <p:cNvPr id="26" name="TextBox 25"/>
          <p:cNvSpPr txBox="1"/>
          <p:nvPr/>
        </p:nvSpPr>
        <p:spPr>
          <a:xfrm>
            <a:off x="11368735" y="6547104"/>
            <a:ext cx="548640" cy="256032"/>
          </a:xfrm>
          <a:prstGeom prst="rect">
            <a:avLst/>
          </a:prstGeom>
          <a:noFill/>
        </p:spPr>
        <p:txBody>
          <a:bodyPr wrap="none">
            <a:spAutoFit/>
          </a:bodyPr>
          <a:lstStyle/>
          <a:p>
            <a:pPr algn="r"/>
            <a:r>
              <a:rPr sz="900" b="0" i="0">
                <a:solidFill>
                  <a:srgbClr val="BD7C00"/>
                </a:solidFill>
                <a:latin typeface="Inter"/>
                <a:ea typeface="Inter"/>
                <a:cs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058400" cy="274320"/>
          </a:xfrm>
          <a:prstGeom prst="rect">
            <a:avLst/>
          </a:prstGeom>
          <a:noFill/>
        </p:spPr>
        <p:txBody>
          <a:bodyPr wrap="none">
            <a:spAutoFit/>
          </a:bodyPr>
          <a:lstStyle/>
          <a:p>
            <a:r>
              <a:rPr sz="1100" b="1" i="0">
                <a:solidFill>
                  <a:srgbClr val="F2AE26"/>
                </a:solidFill>
                <a:latin typeface="Inter"/>
                <a:ea typeface="Inter"/>
                <a:cs typeface="Inter"/>
              </a:rPr>
              <a:t>ABOUT US</a:t>
            </a:r>
          </a:p>
        </p:txBody>
      </p:sp>
      <p:sp>
        <p:nvSpPr>
          <p:cNvPr id="4" name="TextBox 3"/>
          <p:cNvSpPr txBox="1"/>
          <p:nvPr/>
        </p:nvSpPr>
        <p:spPr>
          <a:xfrm>
            <a:off x="685800" y="777240"/>
            <a:ext cx="10058400" cy="2011680"/>
          </a:xfrm>
          <a:prstGeom prst="rect">
            <a:avLst/>
          </a:prstGeom>
          <a:noFill/>
        </p:spPr>
        <p:txBody>
          <a:bodyPr wrap="square">
            <a:spAutoFit/>
          </a:bodyPr>
          <a:lstStyle/>
          <a:p>
            <a:pPr>
              <a:spcAft>
                <a:spcPts val="200"/>
              </a:spcAft>
            </a:pPr>
            <a:r>
              <a:rPr sz="4200" b="1" i="0">
                <a:solidFill>
                  <a:srgbClr val="FFFFFF"/>
                </a:solidFill>
                <a:latin typeface="Barlow Condensed"/>
                <a:ea typeface="Barlow Condensed"/>
                <a:cs typeface="Barlow Condensed"/>
              </a:rPr>
              <a:t>BUILT FOR THE TRADES.</a:t>
            </a:r>
          </a:p>
        </p:txBody>
      </p:sp>
      <p:sp>
        <p:nvSpPr>
          <p:cNvPr id="5" name="TextBox 4"/>
          <p:cNvSpPr txBox="1"/>
          <p:nvPr/>
        </p:nvSpPr>
        <p:spPr>
          <a:xfrm>
            <a:off x="685800" y="1600200"/>
            <a:ext cx="10515600" cy="822960"/>
          </a:xfrm>
          <a:prstGeom prst="rect">
            <a:avLst/>
          </a:prstGeom>
          <a:noFill/>
        </p:spPr>
        <p:txBody>
          <a:bodyPr wrap="square">
            <a:spAutoFit/>
          </a:bodyPr>
          <a:lstStyle/>
          <a:p>
            <a:r>
              <a:rPr sz="1500" b="0" i="0">
                <a:solidFill>
                  <a:srgbClr val="CBD5E1"/>
                </a:solidFill>
                <a:latin typeface="Inter"/>
                <a:ea typeface="Inter"/>
                <a:cs typeface="Inter"/>
              </a:rPr>
              <a:t>Blue Collar Video Guys was founded by Anthony Fowler and Kathy Coker, two filmmakers with nearly a decade of hands-on experience telling brands' stories on camera. That experience runs deep in brand messaging videos and the digital marketing strategy to get them seen.</a:t>
            </a:r>
          </a:p>
        </p:txBody>
      </p:sp>
      <p:sp>
        <p:nvSpPr>
          <p:cNvPr id="6" name="TextBox 5"/>
          <p:cNvSpPr txBox="1"/>
          <p:nvPr/>
        </p:nvSpPr>
        <p:spPr>
          <a:xfrm>
            <a:off x="685800" y="2560320"/>
            <a:ext cx="10515600" cy="822960"/>
          </a:xfrm>
          <a:prstGeom prst="rect">
            <a:avLst/>
          </a:prstGeom>
          <a:noFill/>
        </p:spPr>
        <p:txBody>
          <a:bodyPr wrap="square">
            <a:spAutoFit/>
          </a:bodyPr>
          <a:lstStyle/>
          <a:p>
            <a:r>
              <a:rPr sz="1500" b="0" i="0">
                <a:solidFill>
                  <a:srgbClr val="CBD5E1"/>
                </a:solidFill>
                <a:latin typeface="Inter"/>
                <a:ea typeface="Inter"/>
                <a:cs typeface="Inter"/>
              </a:rPr>
              <a:t>The name says it all: we bring a blue-collar work ethic to video production. Show up, do the job right, and treat every client's business like our own. No jargon, no smoke and mirrors. Just honest work and a finished product that actually sounds like you.</a:t>
            </a:r>
          </a:p>
        </p:txBody>
      </p:sp>
      <p:sp>
        <p:nvSpPr>
          <p:cNvPr id="7" name="TextBox 6"/>
          <p:cNvSpPr txBox="1"/>
          <p:nvPr/>
        </p:nvSpPr>
        <p:spPr>
          <a:xfrm>
            <a:off x="685800" y="3520440"/>
            <a:ext cx="10515600" cy="822960"/>
          </a:xfrm>
          <a:prstGeom prst="rect">
            <a:avLst/>
          </a:prstGeom>
          <a:noFill/>
        </p:spPr>
        <p:txBody>
          <a:bodyPr wrap="square">
            <a:spAutoFit/>
          </a:bodyPr>
          <a:lstStyle/>
          <a:p>
            <a:r>
              <a:rPr sz="1500" b="0" i="0">
                <a:solidFill>
                  <a:srgbClr val="CBD5E1"/>
                </a:solidFill>
                <a:latin typeface="Inter"/>
                <a:ea typeface="Inter"/>
                <a:cs typeface="Inter"/>
              </a:rPr>
              <a:t>Ready to tell your story? Let's get to work.</a:t>
            </a:r>
          </a:p>
        </p:txBody>
      </p:sp>
      <p:sp>
        <p:nvSpPr>
          <p:cNvPr id="8" name="Rectangle 7"/>
          <p:cNvSpPr/>
          <p:nvPr/>
        </p:nvSpPr>
        <p:spPr>
          <a:xfrm>
            <a:off x="0" y="6510528"/>
            <a:ext cx="12191695" cy="347472"/>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47104"/>
            <a:ext cx="9144000" cy="256032"/>
          </a:xfrm>
          <a:prstGeom prst="rect">
            <a:avLst/>
          </a:prstGeom>
          <a:noFill/>
        </p:spPr>
        <p:txBody>
          <a:bodyPr wrap="none">
            <a:spAutoFit/>
          </a:bodyPr>
          <a:lstStyle/>
          <a:p>
            <a:r>
              <a:rPr sz="900" b="0" i="0">
                <a:solidFill>
                  <a:srgbClr val="94A3B8"/>
                </a:solidFill>
                <a:latin typeface="Inter"/>
                <a:ea typeface="Inter"/>
                <a:cs typeface="Inter"/>
              </a:rPr>
              <a:t>The Blue Collar Video Guys™  ·  bluecollarvideoguys.com</a:t>
            </a:r>
          </a:p>
        </p:txBody>
      </p:sp>
      <p:sp>
        <p:nvSpPr>
          <p:cNvPr id="10" name="TextBox 9"/>
          <p:cNvSpPr txBox="1"/>
          <p:nvPr/>
        </p:nvSpPr>
        <p:spPr>
          <a:xfrm>
            <a:off x="11368735" y="6547104"/>
            <a:ext cx="548640" cy="256032"/>
          </a:xfrm>
          <a:prstGeom prst="rect">
            <a:avLst/>
          </a:prstGeom>
          <a:noFill/>
        </p:spPr>
        <p:txBody>
          <a:bodyPr wrap="none">
            <a:spAutoFit/>
          </a:bodyPr>
          <a:lstStyle/>
          <a:p>
            <a:pPr algn="r"/>
            <a:r>
              <a:rPr sz="900" b="0" i="0">
                <a:solidFill>
                  <a:srgbClr val="F2AE26"/>
                </a:solidFill>
                <a:latin typeface="Inter"/>
                <a:ea typeface="Inter"/>
                <a:cs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imary-horizontal.png"/>
          <p:cNvPicPr>
            <a:picLocks noChangeAspect="1"/>
          </p:cNvPicPr>
          <p:nvPr/>
        </p:nvPicPr>
        <p:blipFill>
          <a:blip r:embed="rId2"/>
          <a:stretch>
            <a:fillRect/>
          </a:stretch>
        </p:blipFill>
        <p:spPr>
          <a:xfrm>
            <a:off x="10180015" y="320040"/>
            <a:ext cx="1463040" cy="384334"/>
          </a:xfrm>
          <a:prstGeom prst="rect">
            <a:avLst/>
          </a:prstGeom>
        </p:spPr>
      </p:pic>
      <p:sp>
        <p:nvSpPr>
          <p:cNvPr id="4" name="TextBox 3"/>
          <p:cNvSpPr txBox="1"/>
          <p:nvPr/>
        </p:nvSpPr>
        <p:spPr>
          <a:xfrm>
            <a:off x="685800" y="502920"/>
            <a:ext cx="10058400" cy="274320"/>
          </a:xfrm>
          <a:prstGeom prst="rect">
            <a:avLst/>
          </a:prstGeom>
          <a:noFill/>
        </p:spPr>
        <p:txBody>
          <a:bodyPr wrap="none">
            <a:spAutoFit/>
          </a:bodyPr>
          <a:lstStyle/>
          <a:p>
            <a:r>
              <a:rPr sz="1100" b="1" i="0">
                <a:solidFill>
                  <a:srgbClr val="F2AE26"/>
                </a:solidFill>
                <a:latin typeface="Inter"/>
                <a:ea typeface="Inter"/>
                <a:cs typeface="Inter"/>
              </a:rPr>
              <a:t>READY TO BREAK GROUND?</a:t>
            </a:r>
          </a:p>
        </p:txBody>
      </p:sp>
      <p:sp>
        <p:nvSpPr>
          <p:cNvPr id="5" name="TextBox 4"/>
          <p:cNvSpPr txBox="1"/>
          <p:nvPr/>
        </p:nvSpPr>
        <p:spPr>
          <a:xfrm>
            <a:off x="685800" y="914400"/>
            <a:ext cx="10058400" cy="640080"/>
          </a:xfrm>
          <a:prstGeom prst="rect">
            <a:avLst/>
          </a:prstGeom>
          <a:noFill/>
        </p:spPr>
        <p:txBody>
          <a:bodyPr wrap="none">
            <a:spAutoFit/>
          </a:bodyPr>
          <a:lstStyle/>
          <a:p>
            <a:r>
              <a:rPr sz="4800" b="1" i="0">
                <a:solidFill>
                  <a:srgbClr val="FFFFFF"/>
                </a:solidFill>
                <a:latin typeface="Barlow Condensed"/>
                <a:ea typeface="Barlow Condensed"/>
                <a:cs typeface="Barlow Condensed"/>
              </a:rPr>
              <a:t>YOUR STORY</a:t>
            </a:r>
          </a:p>
        </p:txBody>
      </p:sp>
      <p:sp>
        <p:nvSpPr>
          <p:cNvPr id="6" name="TextBox 5"/>
          <p:cNvSpPr txBox="1"/>
          <p:nvPr/>
        </p:nvSpPr>
        <p:spPr>
          <a:xfrm>
            <a:off x="685800" y="1600200"/>
            <a:ext cx="10058400" cy="640080"/>
          </a:xfrm>
          <a:prstGeom prst="rect">
            <a:avLst/>
          </a:prstGeom>
          <a:noFill/>
        </p:spPr>
        <p:txBody>
          <a:bodyPr wrap="none">
            <a:spAutoFit/>
          </a:bodyPr>
          <a:lstStyle/>
          <a:p>
            <a:r>
              <a:rPr sz="4800" b="1" i="0">
                <a:solidFill>
                  <a:srgbClr val="94A3B8"/>
                </a:solidFill>
                <a:latin typeface="Barlow Condensed"/>
                <a:ea typeface="Barlow Condensed"/>
                <a:cs typeface="Barlow Condensed"/>
              </a:rPr>
              <a:t>DESERVES TO BE TOLD.</a:t>
            </a:r>
          </a:p>
        </p:txBody>
      </p:sp>
      <p:sp>
        <p:nvSpPr>
          <p:cNvPr id="7" name="TextBox 6"/>
          <p:cNvSpPr txBox="1"/>
          <p:nvPr/>
        </p:nvSpPr>
        <p:spPr>
          <a:xfrm>
            <a:off x="685800" y="2331720"/>
            <a:ext cx="10058400" cy="640080"/>
          </a:xfrm>
          <a:prstGeom prst="rect">
            <a:avLst/>
          </a:prstGeom>
          <a:noFill/>
        </p:spPr>
        <p:txBody>
          <a:bodyPr wrap="none">
            <a:spAutoFit/>
          </a:bodyPr>
          <a:lstStyle/>
          <a:p>
            <a:r>
              <a:rPr sz="1500" b="0" i="0">
                <a:solidFill>
                  <a:srgbClr val="94A3B8"/>
                </a:solidFill>
                <a:latin typeface="Inter"/>
                <a:ea typeface="Inter"/>
                <a:cs typeface="Inter"/>
              </a:rPr>
              <a:t>You've spent years earning your reputation. Let's build the trust system that turns it into more of the right work.</a:t>
            </a:r>
          </a:p>
        </p:txBody>
      </p:sp>
      <p:sp>
        <p:nvSpPr>
          <p:cNvPr id="8" name="TextBox 7"/>
          <p:cNvSpPr txBox="1"/>
          <p:nvPr/>
        </p:nvSpPr>
        <p:spPr>
          <a:xfrm>
            <a:off x="685800" y="3246120"/>
            <a:ext cx="10058400" cy="274320"/>
          </a:xfrm>
          <a:prstGeom prst="rect">
            <a:avLst/>
          </a:prstGeom>
          <a:noFill/>
        </p:spPr>
        <p:txBody>
          <a:bodyPr wrap="none">
            <a:spAutoFit/>
          </a:bodyPr>
          <a:lstStyle/>
          <a:p>
            <a:r>
              <a:rPr sz="1100" b="1" i="0">
                <a:solidFill>
                  <a:srgbClr val="F2AE26"/>
                </a:solidFill>
                <a:latin typeface="Inter"/>
                <a:ea typeface="Inter"/>
                <a:cs typeface="Inter"/>
              </a:rPr>
              <a:t>LET'S TALK</a:t>
            </a:r>
          </a:p>
        </p:txBody>
      </p:sp>
      <p:sp>
        <p:nvSpPr>
          <p:cNvPr id="9" name="TextBox 8"/>
          <p:cNvSpPr txBox="1"/>
          <p:nvPr/>
        </p:nvSpPr>
        <p:spPr>
          <a:xfrm>
            <a:off x="685800" y="3611880"/>
            <a:ext cx="10058400" cy="411480"/>
          </a:xfrm>
          <a:prstGeom prst="rect">
            <a:avLst/>
          </a:prstGeom>
          <a:noFill/>
        </p:spPr>
        <p:txBody>
          <a:bodyPr wrap="none">
            <a:spAutoFit/>
          </a:bodyPr>
          <a:lstStyle/>
          <a:p>
            <a:r>
              <a:rPr sz="2800" b="1" i="0">
                <a:solidFill>
                  <a:srgbClr val="FFFFFF"/>
                </a:solidFill>
                <a:latin typeface="Barlow Condensed"/>
                <a:ea typeface="Barlow Condensed"/>
                <a:cs typeface="Barlow Condensed"/>
              </a:rPr>
              <a:t>ONE CALL. ONE BLUEPRINT.</a:t>
            </a:r>
          </a:p>
        </p:txBody>
      </p:sp>
      <p:sp>
        <p:nvSpPr>
          <p:cNvPr id="10" name="TextBox 9"/>
          <p:cNvSpPr txBox="1"/>
          <p:nvPr/>
        </p:nvSpPr>
        <p:spPr>
          <a:xfrm>
            <a:off x="685800" y="4069080"/>
            <a:ext cx="9144000" cy="457200"/>
          </a:xfrm>
          <a:prstGeom prst="rect">
            <a:avLst/>
          </a:prstGeom>
          <a:noFill/>
        </p:spPr>
        <p:txBody>
          <a:bodyPr wrap="square">
            <a:spAutoFit/>
          </a:bodyPr>
          <a:lstStyle/>
          <a:p>
            <a:r>
              <a:rPr sz="1400" b="0" i="0">
                <a:solidFill>
                  <a:srgbClr val="CBD5E1"/>
                </a:solidFill>
                <a:latin typeface="Inter"/>
                <a:ea typeface="Inter"/>
                <a:cs typeface="Inter"/>
              </a:rPr>
              <a:t>Tell us about your business and we'll set up a free call to map out your Blueprint. No pressure, no obligation.</a:t>
            </a:r>
          </a:p>
        </p:txBody>
      </p:sp>
      <p:sp>
        <p:nvSpPr>
          <p:cNvPr id="11" name="Rectangle 10"/>
          <p:cNvSpPr/>
          <p:nvPr/>
        </p:nvSpPr>
        <p:spPr>
          <a:xfrm>
            <a:off x="685800" y="4800600"/>
            <a:ext cx="2606040" cy="86868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4800600"/>
            <a:ext cx="2606040" cy="2540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937760"/>
            <a:ext cx="2286000" cy="228600"/>
          </a:xfrm>
          <a:prstGeom prst="rect">
            <a:avLst/>
          </a:prstGeom>
          <a:noFill/>
        </p:spPr>
        <p:txBody>
          <a:bodyPr wrap="none">
            <a:spAutoFit/>
          </a:bodyPr>
          <a:lstStyle/>
          <a:p>
            <a:r>
              <a:rPr sz="900" b="1" i="0">
                <a:solidFill>
                  <a:srgbClr val="F2AE26"/>
                </a:solidFill>
                <a:latin typeface="Inter"/>
                <a:ea typeface="Inter"/>
                <a:cs typeface="Inter"/>
              </a:rPr>
              <a:t>BOOK A DISCOVERY CALL</a:t>
            </a:r>
          </a:p>
        </p:txBody>
      </p:sp>
      <p:sp>
        <p:nvSpPr>
          <p:cNvPr id="14" name="TextBox 13"/>
          <p:cNvSpPr txBox="1"/>
          <p:nvPr/>
        </p:nvSpPr>
        <p:spPr>
          <a:xfrm>
            <a:off x="868680" y="5193792"/>
            <a:ext cx="2286000" cy="320040"/>
          </a:xfrm>
          <a:prstGeom prst="rect">
            <a:avLst/>
          </a:prstGeom>
          <a:noFill/>
        </p:spPr>
        <p:txBody>
          <a:bodyPr wrap="none">
            <a:spAutoFit/>
          </a:bodyPr>
          <a:lstStyle/>
          <a:p>
            <a:r>
              <a:rPr sz="1100" b="0" i="0">
                <a:solidFill>
                  <a:srgbClr val="F5F5F2"/>
                </a:solidFill>
                <a:latin typeface="Inter"/>
                <a:ea typeface="Inter"/>
                <a:cs typeface="Inter"/>
              </a:rPr>
              <a:t>calendly.com/bluecollarvideoguys/30min</a:t>
            </a:r>
          </a:p>
        </p:txBody>
      </p:sp>
      <p:sp>
        <p:nvSpPr>
          <p:cNvPr id="15" name="Rectangle 14"/>
          <p:cNvSpPr/>
          <p:nvPr/>
        </p:nvSpPr>
        <p:spPr>
          <a:xfrm>
            <a:off x="3474720" y="4800600"/>
            <a:ext cx="2606040" cy="86868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0" y="4800600"/>
            <a:ext cx="2606040" cy="2540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4937760"/>
            <a:ext cx="2286000" cy="228600"/>
          </a:xfrm>
          <a:prstGeom prst="rect">
            <a:avLst/>
          </a:prstGeom>
          <a:noFill/>
        </p:spPr>
        <p:txBody>
          <a:bodyPr wrap="none">
            <a:spAutoFit/>
          </a:bodyPr>
          <a:lstStyle/>
          <a:p>
            <a:r>
              <a:rPr sz="900" b="1" i="0">
                <a:solidFill>
                  <a:srgbClr val="F2AE26"/>
                </a:solidFill>
                <a:latin typeface="Inter"/>
                <a:ea typeface="Inter"/>
                <a:cs typeface="Inter"/>
              </a:rPr>
              <a:t>PHONE</a:t>
            </a:r>
          </a:p>
        </p:txBody>
      </p:sp>
      <p:sp>
        <p:nvSpPr>
          <p:cNvPr id="18" name="TextBox 17"/>
          <p:cNvSpPr txBox="1"/>
          <p:nvPr/>
        </p:nvSpPr>
        <p:spPr>
          <a:xfrm>
            <a:off x="3657600" y="5193792"/>
            <a:ext cx="2286000" cy="320040"/>
          </a:xfrm>
          <a:prstGeom prst="rect">
            <a:avLst/>
          </a:prstGeom>
          <a:noFill/>
        </p:spPr>
        <p:txBody>
          <a:bodyPr wrap="none">
            <a:spAutoFit/>
          </a:bodyPr>
          <a:lstStyle/>
          <a:p>
            <a:r>
              <a:rPr sz="1100" b="0" i="0">
                <a:solidFill>
                  <a:srgbClr val="F5F5F2"/>
                </a:solidFill>
                <a:latin typeface="Inter"/>
                <a:ea typeface="Inter"/>
                <a:cs typeface="Inter"/>
              </a:rPr>
              <a:t>(530) 338-3391</a:t>
            </a:r>
          </a:p>
        </p:txBody>
      </p:sp>
      <p:sp>
        <p:nvSpPr>
          <p:cNvPr id="19" name="Rectangle 18"/>
          <p:cNvSpPr/>
          <p:nvPr/>
        </p:nvSpPr>
        <p:spPr>
          <a:xfrm>
            <a:off x="6263640" y="4800600"/>
            <a:ext cx="2606040" cy="86868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4800600"/>
            <a:ext cx="2606040" cy="2540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937760"/>
            <a:ext cx="2286000" cy="228600"/>
          </a:xfrm>
          <a:prstGeom prst="rect">
            <a:avLst/>
          </a:prstGeom>
          <a:noFill/>
        </p:spPr>
        <p:txBody>
          <a:bodyPr wrap="none">
            <a:spAutoFit/>
          </a:bodyPr>
          <a:lstStyle/>
          <a:p>
            <a:r>
              <a:rPr sz="900" b="1" i="0">
                <a:solidFill>
                  <a:srgbClr val="F2AE26"/>
                </a:solidFill>
                <a:latin typeface="Inter"/>
                <a:ea typeface="Inter"/>
                <a:cs typeface="Inter"/>
              </a:rPr>
              <a:t>EMAIL</a:t>
            </a:r>
          </a:p>
        </p:txBody>
      </p:sp>
      <p:sp>
        <p:nvSpPr>
          <p:cNvPr id="22" name="TextBox 21"/>
          <p:cNvSpPr txBox="1"/>
          <p:nvPr/>
        </p:nvSpPr>
        <p:spPr>
          <a:xfrm>
            <a:off x="6446520" y="5193792"/>
            <a:ext cx="2286000" cy="320040"/>
          </a:xfrm>
          <a:prstGeom prst="rect">
            <a:avLst/>
          </a:prstGeom>
          <a:noFill/>
        </p:spPr>
        <p:txBody>
          <a:bodyPr wrap="none">
            <a:spAutoFit/>
          </a:bodyPr>
          <a:lstStyle/>
          <a:p>
            <a:r>
              <a:rPr sz="1100" b="0" i="0">
                <a:solidFill>
                  <a:srgbClr val="F5F5F2"/>
                </a:solidFill>
                <a:latin typeface="Inter"/>
                <a:ea typeface="Inter"/>
                <a:cs typeface="Inter"/>
              </a:rPr>
              <a:t>build@bluecollarvideoguys.com</a:t>
            </a:r>
          </a:p>
        </p:txBody>
      </p:sp>
      <p:sp>
        <p:nvSpPr>
          <p:cNvPr id="23" name="Rectangle 22"/>
          <p:cNvSpPr/>
          <p:nvPr/>
        </p:nvSpPr>
        <p:spPr>
          <a:xfrm>
            <a:off x="9052560" y="4800600"/>
            <a:ext cx="2606040" cy="868680"/>
          </a:xfrm>
          <a:prstGeom prst="rect">
            <a:avLst/>
          </a:prstGeom>
          <a:solidFill>
            <a:srgbClr val="0D1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2560" y="4800600"/>
            <a:ext cx="2606040" cy="25400"/>
          </a:xfrm>
          <a:prstGeom prst="rect">
            <a:avLst/>
          </a:prstGeom>
          <a:solidFill>
            <a:srgbClr val="F2A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4937760"/>
            <a:ext cx="2286000" cy="228600"/>
          </a:xfrm>
          <a:prstGeom prst="rect">
            <a:avLst/>
          </a:prstGeom>
          <a:noFill/>
        </p:spPr>
        <p:txBody>
          <a:bodyPr wrap="none">
            <a:spAutoFit/>
          </a:bodyPr>
          <a:lstStyle/>
          <a:p>
            <a:r>
              <a:rPr sz="900" b="1" i="0">
                <a:solidFill>
                  <a:srgbClr val="F2AE26"/>
                </a:solidFill>
                <a:latin typeface="Inter"/>
                <a:ea typeface="Inter"/>
                <a:cs typeface="Inter"/>
              </a:rPr>
              <a:t>WEBSITE</a:t>
            </a:r>
          </a:p>
        </p:txBody>
      </p:sp>
      <p:sp>
        <p:nvSpPr>
          <p:cNvPr id="26" name="TextBox 25"/>
          <p:cNvSpPr txBox="1"/>
          <p:nvPr/>
        </p:nvSpPr>
        <p:spPr>
          <a:xfrm>
            <a:off x="9235440" y="5193792"/>
            <a:ext cx="2286000" cy="320040"/>
          </a:xfrm>
          <a:prstGeom prst="rect">
            <a:avLst/>
          </a:prstGeom>
          <a:noFill/>
        </p:spPr>
        <p:txBody>
          <a:bodyPr wrap="none">
            <a:spAutoFit/>
          </a:bodyPr>
          <a:lstStyle/>
          <a:p>
            <a:r>
              <a:rPr sz="1100" b="0" i="0">
                <a:solidFill>
                  <a:srgbClr val="F5F5F2"/>
                </a:solidFill>
                <a:latin typeface="Inter"/>
                <a:ea typeface="Inter"/>
                <a:cs typeface="Inter"/>
              </a:rPr>
              <a:t>bluecollarvideoguys.com</a:t>
            </a:r>
          </a:p>
        </p:txBody>
      </p:sp>
      <p:sp>
        <p:nvSpPr>
          <p:cNvPr id="27" name="Rectangle 26"/>
          <p:cNvSpPr/>
          <p:nvPr/>
        </p:nvSpPr>
        <p:spPr>
          <a:xfrm>
            <a:off x="685800" y="5806440"/>
            <a:ext cx="219456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97880"/>
            <a:ext cx="1097280" cy="411480"/>
          </a:xfrm>
          <a:prstGeom prst="rect">
            <a:avLst/>
          </a:prstGeom>
          <a:noFill/>
        </p:spPr>
        <p:txBody>
          <a:bodyPr wrap="none">
            <a:spAutoFit/>
          </a:bodyPr>
          <a:lstStyle/>
          <a:p>
            <a:r>
              <a:rPr sz="2800" b="1" i="0">
                <a:solidFill>
                  <a:srgbClr val="FFFFFF"/>
                </a:solidFill>
                <a:latin typeface="Barlow Condensed"/>
                <a:ea typeface="Barlow Condensed"/>
                <a:cs typeface="Barlow Condensed"/>
              </a:rPr>
              <a:t>3</a:t>
            </a:r>
          </a:p>
        </p:txBody>
      </p:sp>
      <p:sp>
        <p:nvSpPr>
          <p:cNvPr id="29" name="TextBox 28"/>
          <p:cNvSpPr txBox="1"/>
          <p:nvPr/>
        </p:nvSpPr>
        <p:spPr>
          <a:xfrm>
            <a:off x="685800" y="6309360"/>
            <a:ext cx="2194560" cy="228600"/>
          </a:xfrm>
          <a:prstGeom prst="rect">
            <a:avLst/>
          </a:prstGeom>
          <a:noFill/>
        </p:spPr>
        <p:txBody>
          <a:bodyPr wrap="none">
            <a:spAutoFit/>
          </a:bodyPr>
          <a:lstStyle/>
          <a:p>
            <a:r>
              <a:rPr sz="800" b="1" i="0">
                <a:solidFill>
                  <a:srgbClr val="94A3B8"/>
                </a:solidFill>
                <a:latin typeface="Inter"/>
                <a:ea typeface="Inter"/>
                <a:cs typeface="Inter"/>
              </a:rPr>
              <a:t>BLUEPRINT STAGES</a:t>
            </a:r>
          </a:p>
        </p:txBody>
      </p:sp>
      <p:sp>
        <p:nvSpPr>
          <p:cNvPr id="30" name="Rectangle 29"/>
          <p:cNvSpPr/>
          <p:nvPr/>
        </p:nvSpPr>
        <p:spPr>
          <a:xfrm>
            <a:off x="3246120" y="5806440"/>
            <a:ext cx="219456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5897880"/>
            <a:ext cx="1097280" cy="411480"/>
          </a:xfrm>
          <a:prstGeom prst="rect">
            <a:avLst/>
          </a:prstGeom>
          <a:noFill/>
        </p:spPr>
        <p:txBody>
          <a:bodyPr wrap="none">
            <a:spAutoFit/>
          </a:bodyPr>
          <a:lstStyle/>
          <a:p>
            <a:r>
              <a:rPr sz="2800" b="1" i="0">
                <a:solidFill>
                  <a:srgbClr val="FFFFFF"/>
                </a:solidFill>
                <a:latin typeface="Barlow Condensed"/>
                <a:ea typeface="Barlow Condensed"/>
                <a:cs typeface="Barlow Condensed"/>
              </a:rPr>
              <a:t>100%</a:t>
            </a:r>
          </a:p>
        </p:txBody>
      </p:sp>
      <p:sp>
        <p:nvSpPr>
          <p:cNvPr id="32" name="TextBox 31"/>
          <p:cNvSpPr txBox="1"/>
          <p:nvPr/>
        </p:nvSpPr>
        <p:spPr>
          <a:xfrm>
            <a:off x="3246120" y="6309360"/>
            <a:ext cx="2194560" cy="228600"/>
          </a:xfrm>
          <a:prstGeom prst="rect">
            <a:avLst/>
          </a:prstGeom>
          <a:noFill/>
        </p:spPr>
        <p:txBody>
          <a:bodyPr wrap="none">
            <a:spAutoFit/>
          </a:bodyPr>
          <a:lstStyle/>
          <a:p>
            <a:r>
              <a:rPr sz="800" b="1" i="0">
                <a:solidFill>
                  <a:srgbClr val="94A3B8"/>
                </a:solidFill>
                <a:latin typeface="Inter"/>
                <a:ea typeface="Inter"/>
                <a:cs typeface="Inter"/>
              </a:rPr>
              <a:t>BUILT FOR THE TRADES</a:t>
            </a:r>
          </a:p>
        </p:txBody>
      </p:sp>
      <p:sp>
        <p:nvSpPr>
          <p:cNvPr id="33" name="Rectangle 32"/>
          <p:cNvSpPr/>
          <p:nvPr/>
        </p:nvSpPr>
        <p:spPr>
          <a:xfrm>
            <a:off x="5806440" y="5806440"/>
            <a:ext cx="219456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06440" y="5897880"/>
            <a:ext cx="1097280" cy="411480"/>
          </a:xfrm>
          <a:prstGeom prst="rect">
            <a:avLst/>
          </a:prstGeom>
          <a:noFill/>
        </p:spPr>
        <p:txBody>
          <a:bodyPr wrap="none">
            <a:spAutoFit/>
          </a:bodyPr>
          <a:lstStyle/>
          <a:p>
            <a:r>
              <a:rPr sz="2800" b="1" i="0">
                <a:solidFill>
                  <a:srgbClr val="FFFFFF"/>
                </a:solidFill>
                <a:latin typeface="Barlow Condensed"/>
                <a:ea typeface="Barlow Condensed"/>
                <a:cs typeface="Barlow Condensed"/>
              </a:rPr>
              <a:t>10</a:t>
            </a:r>
          </a:p>
        </p:txBody>
      </p:sp>
      <p:sp>
        <p:nvSpPr>
          <p:cNvPr id="35" name="TextBox 34"/>
          <p:cNvSpPr txBox="1"/>
          <p:nvPr/>
        </p:nvSpPr>
        <p:spPr>
          <a:xfrm>
            <a:off x="5806440" y="6309360"/>
            <a:ext cx="2194560" cy="228600"/>
          </a:xfrm>
          <a:prstGeom prst="rect">
            <a:avLst/>
          </a:prstGeom>
          <a:noFill/>
        </p:spPr>
        <p:txBody>
          <a:bodyPr wrap="none">
            <a:spAutoFit/>
          </a:bodyPr>
          <a:lstStyle/>
          <a:p>
            <a:r>
              <a:rPr sz="800" b="1" i="0">
                <a:solidFill>
                  <a:srgbClr val="94A3B8"/>
                </a:solidFill>
                <a:latin typeface="Inter"/>
                <a:ea typeface="Inter"/>
                <a:cs typeface="Inter"/>
              </a:rPr>
              <a:t>YEARS EXPERIENCE</a:t>
            </a:r>
          </a:p>
        </p:txBody>
      </p:sp>
      <p:sp>
        <p:nvSpPr>
          <p:cNvPr id="36" name="TextBox 35"/>
          <p:cNvSpPr txBox="1"/>
          <p:nvPr/>
        </p:nvSpPr>
        <p:spPr>
          <a:xfrm>
            <a:off x="685800" y="6446520"/>
            <a:ext cx="10058400" cy="228600"/>
          </a:xfrm>
          <a:prstGeom prst="rect">
            <a:avLst/>
          </a:prstGeom>
          <a:noFill/>
        </p:spPr>
        <p:txBody>
          <a:bodyPr wrap="none">
            <a:spAutoFit/>
          </a:bodyPr>
          <a:lstStyle/>
          <a:p>
            <a:r>
              <a:rPr sz="900" b="0" i="0">
                <a:solidFill>
                  <a:srgbClr val="94A3B8"/>
                </a:solidFill>
                <a:latin typeface="Inter"/>
                <a:ea typeface="Inter"/>
                <a:cs typeface="Inter"/>
              </a:rPr>
              <a:t>Build Trust. Stand Out. Win More Work. Authentic video marketing for blue-collar businesses.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